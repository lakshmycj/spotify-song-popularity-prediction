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21" r:id="rId1"/>
  </p:sldMasterIdLst>
  <p:notesMasterIdLst>
    <p:notesMasterId r:id="rId40"/>
  </p:notesMasterIdLst>
  <p:sldIdLst>
    <p:sldId id="299" r:id="rId2"/>
    <p:sldId id="300" r:id="rId3"/>
    <p:sldId id="301" r:id="rId4"/>
    <p:sldId id="302" r:id="rId5"/>
    <p:sldId id="303" r:id="rId6"/>
    <p:sldId id="304" r:id="rId7"/>
    <p:sldId id="263" r:id="rId8"/>
    <p:sldId id="264" r:id="rId9"/>
    <p:sldId id="265" r:id="rId10"/>
    <p:sldId id="270" r:id="rId11"/>
    <p:sldId id="268" r:id="rId12"/>
    <p:sldId id="269" r:id="rId13"/>
    <p:sldId id="271" r:id="rId14"/>
    <p:sldId id="272" r:id="rId15"/>
    <p:sldId id="273" r:id="rId16"/>
    <p:sldId id="275" r:id="rId17"/>
    <p:sldId id="276" r:id="rId18"/>
    <p:sldId id="277" r:id="rId19"/>
    <p:sldId id="278" r:id="rId20"/>
    <p:sldId id="298" r:id="rId21"/>
    <p:sldId id="280" r:id="rId22"/>
    <p:sldId id="281" r:id="rId23"/>
    <p:sldId id="305" r:id="rId24"/>
    <p:sldId id="283" r:id="rId25"/>
    <p:sldId id="284" r:id="rId26"/>
    <p:sldId id="285" r:id="rId27"/>
    <p:sldId id="286" r:id="rId28"/>
    <p:sldId id="306" r:id="rId29"/>
    <p:sldId id="307" r:id="rId30"/>
    <p:sldId id="308" r:id="rId31"/>
    <p:sldId id="309" r:id="rId32"/>
    <p:sldId id="291" r:id="rId33"/>
    <p:sldId id="292" r:id="rId34"/>
    <p:sldId id="293" r:id="rId35"/>
    <p:sldId id="294" r:id="rId36"/>
    <p:sldId id="310" r:id="rId37"/>
    <p:sldId id="311" r:id="rId38"/>
    <p:sldId id="312" r:id="rId39"/>
  </p:sldIdLst>
  <p:sldSz cx="12192000" cy="6858000"/>
  <p:notesSz cx="6858000" cy="9144000"/>
  <p:embeddedFontLst>
    <p:embeddedFont>
      <p:font typeface="Garamond" panose="02020404030301010803" pitchFamily="18" charset="0"/>
      <p:regular r:id="rId41"/>
      <p:bold r:id="rId42"/>
      <p:italic r:id="rId43"/>
    </p:embeddedFont>
    <p:embeddedFont>
      <p:font typeface="Geo" panose="020B0604020202020204"/>
      <p:regular r:id="rId44"/>
      <p: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47889D-3C7C-4B24-88EA-F720FDABB809}" type="doc">
      <dgm:prSet loTypeId="urn:microsoft.com/office/officeart/2005/8/layout/bProcess3" loCatId="process" qsTypeId="urn:microsoft.com/office/officeart/2005/8/quickstyle/simple1" qsCatId="simple" csTypeId="urn:microsoft.com/office/officeart/2005/8/colors/accent3_1" csCatId="accent3"/>
      <dgm:spPr/>
      <dgm:t>
        <a:bodyPr/>
        <a:lstStyle/>
        <a:p>
          <a:endParaRPr lang="en-US"/>
        </a:p>
      </dgm:t>
    </dgm:pt>
    <dgm:pt modelId="{2C75283B-E593-4C3D-9F74-2467DCB5E0B8}">
      <dgm:prSet/>
      <dgm:spPr/>
      <dgm:t>
        <a:bodyPr/>
        <a:lstStyle/>
        <a:p>
          <a:r>
            <a:rPr lang="en-US"/>
            <a:t>Analyzing Song Features &amp; Success Patterns for Spotify</a:t>
          </a:r>
        </a:p>
      </dgm:t>
    </dgm:pt>
    <dgm:pt modelId="{87ADAA30-AF6D-4607-882B-90EFB2CC1469}" type="parTrans" cxnId="{36688B9D-F8DB-42A1-ADAC-24505DBFD11A}">
      <dgm:prSet/>
      <dgm:spPr/>
      <dgm:t>
        <a:bodyPr/>
        <a:lstStyle/>
        <a:p>
          <a:endParaRPr lang="en-US"/>
        </a:p>
      </dgm:t>
    </dgm:pt>
    <dgm:pt modelId="{0217FEEC-D066-429E-B9B5-FEB654A9B475}" type="sibTrans" cxnId="{36688B9D-F8DB-42A1-ADAC-24505DBFD11A}">
      <dgm:prSet/>
      <dgm:spPr/>
      <dgm:t>
        <a:bodyPr/>
        <a:lstStyle/>
        <a:p>
          <a:endParaRPr lang="en-US"/>
        </a:p>
      </dgm:t>
    </dgm:pt>
    <dgm:pt modelId="{67AEBE18-782F-474E-876B-223B6C8C223B}">
      <dgm:prSet/>
      <dgm:spPr/>
      <dgm:t>
        <a:bodyPr/>
        <a:lstStyle/>
        <a:p>
          <a:r>
            <a:rPr lang="en-US" b="0" i="0"/>
            <a:t>Analyzing aspects: </a:t>
          </a:r>
          <a:endParaRPr lang="en-US"/>
        </a:p>
      </dgm:t>
    </dgm:pt>
    <dgm:pt modelId="{47D9B6A4-6C9E-4C6F-9BE4-C91035CC907E}" type="parTrans" cxnId="{5683ECDE-D239-40AC-A0C0-99FAA8B0401D}">
      <dgm:prSet/>
      <dgm:spPr/>
      <dgm:t>
        <a:bodyPr/>
        <a:lstStyle/>
        <a:p>
          <a:endParaRPr lang="en-US"/>
        </a:p>
      </dgm:t>
    </dgm:pt>
    <dgm:pt modelId="{F0733D87-8EDF-4AD0-A6B4-2FCF4F5EBC9D}" type="sibTrans" cxnId="{5683ECDE-D239-40AC-A0C0-99FAA8B0401D}">
      <dgm:prSet/>
      <dgm:spPr/>
      <dgm:t>
        <a:bodyPr/>
        <a:lstStyle/>
        <a:p>
          <a:endParaRPr lang="en-US"/>
        </a:p>
      </dgm:t>
    </dgm:pt>
    <dgm:pt modelId="{AB343FC7-21FE-47A5-9F50-9E5C9A7BA888}">
      <dgm:prSet/>
      <dgm:spPr/>
      <dgm:t>
        <a:bodyPr/>
        <a:lstStyle/>
        <a:p>
          <a:r>
            <a:rPr lang="en-US" b="0" i="0"/>
            <a:t>Relationship between song valence and success across different music clusters </a:t>
          </a:r>
          <a:endParaRPr lang="en-US"/>
        </a:p>
      </dgm:t>
    </dgm:pt>
    <dgm:pt modelId="{0166D01A-45DA-4F42-8156-E6F9E9503893}" type="parTrans" cxnId="{60F3BCE6-EBE1-4354-B8BE-F5E70420967B}">
      <dgm:prSet/>
      <dgm:spPr/>
      <dgm:t>
        <a:bodyPr/>
        <a:lstStyle/>
        <a:p>
          <a:endParaRPr lang="en-US"/>
        </a:p>
      </dgm:t>
    </dgm:pt>
    <dgm:pt modelId="{B4ED68DB-AD4A-47B9-8D15-6E180DF75CDF}" type="sibTrans" cxnId="{60F3BCE6-EBE1-4354-B8BE-F5E70420967B}">
      <dgm:prSet/>
      <dgm:spPr/>
      <dgm:t>
        <a:bodyPr/>
        <a:lstStyle/>
        <a:p>
          <a:endParaRPr lang="en-US"/>
        </a:p>
      </dgm:t>
    </dgm:pt>
    <dgm:pt modelId="{37510151-7C17-41CD-976D-5C5500A1170E}">
      <dgm:prSet/>
      <dgm:spPr/>
      <dgm:t>
        <a:bodyPr/>
        <a:lstStyle/>
        <a:p>
          <a:r>
            <a:rPr lang="en-US" b="0" i="0"/>
            <a:t>Feature combinations driving song popularity </a:t>
          </a:r>
          <a:endParaRPr lang="en-US"/>
        </a:p>
      </dgm:t>
    </dgm:pt>
    <dgm:pt modelId="{764A4FA0-4960-4F19-8016-8BCC7CD31E32}" type="parTrans" cxnId="{1BBA0563-0C44-4A56-961A-164AFD9C9A01}">
      <dgm:prSet/>
      <dgm:spPr/>
      <dgm:t>
        <a:bodyPr/>
        <a:lstStyle/>
        <a:p>
          <a:endParaRPr lang="en-US"/>
        </a:p>
      </dgm:t>
    </dgm:pt>
    <dgm:pt modelId="{E2364379-B282-4A64-89DA-3C66359D7199}" type="sibTrans" cxnId="{1BBA0563-0C44-4A56-961A-164AFD9C9A01}">
      <dgm:prSet/>
      <dgm:spPr/>
      <dgm:t>
        <a:bodyPr/>
        <a:lstStyle/>
        <a:p>
          <a:endParaRPr lang="en-US"/>
        </a:p>
      </dgm:t>
    </dgm:pt>
    <dgm:pt modelId="{70255757-6E3F-4436-A50A-936748E575DE}">
      <dgm:prSet/>
      <dgm:spPr/>
      <dgm:t>
        <a:bodyPr/>
        <a:lstStyle/>
        <a:p>
          <a:r>
            <a:rPr lang="en-US" b="0" i="0"/>
            <a:t>Purpose: </a:t>
          </a:r>
          <a:endParaRPr lang="en-US"/>
        </a:p>
      </dgm:t>
    </dgm:pt>
    <dgm:pt modelId="{A538E96F-00DD-4AE7-A9CA-34B926EC225E}" type="parTrans" cxnId="{DD4B62D8-66BB-4978-B7C2-639B7E7517B9}">
      <dgm:prSet/>
      <dgm:spPr/>
      <dgm:t>
        <a:bodyPr/>
        <a:lstStyle/>
        <a:p>
          <a:endParaRPr lang="en-US"/>
        </a:p>
      </dgm:t>
    </dgm:pt>
    <dgm:pt modelId="{E217C48F-D9E3-4468-AC38-492A14AD622E}" type="sibTrans" cxnId="{DD4B62D8-66BB-4978-B7C2-639B7E7517B9}">
      <dgm:prSet/>
      <dgm:spPr/>
      <dgm:t>
        <a:bodyPr/>
        <a:lstStyle/>
        <a:p>
          <a:endParaRPr lang="en-US"/>
        </a:p>
      </dgm:t>
    </dgm:pt>
    <dgm:pt modelId="{F1C16023-AE24-4DCC-865D-7D5402918671}">
      <dgm:prSet/>
      <dgm:spPr/>
      <dgm:t>
        <a:bodyPr/>
        <a:lstStyle/>
        <a:p>
          <a:r>
            <a:rPr lang="en-US" b="0" i="0"/>
            <a:t>Enhance playlist recommendations through data-driven insights </a:t>
          </a:r>
          <a:endParaRPr lang="en-US"/>
        </a:p>
      </dgm:t>
    </dgm:pt>
    <dgm:pt modelId="{B6AF0A3D-815B-4538-AB29-F49737975233}" type="parTrans" cxnId="{6D07CB9F-23A7-47EF-BE6F-E3BE5CC7927C}">
      <dgm:prSet/>
      <dgm:spPr/>
      <dgm:t>
        <a:bodyPr/>
        <a:lstStyle/>
        <a:p>
          <a:endParaRPr lang="en-US"/>
        </a:p>
      </dgm:t>
    </dgm:pt>
    <dgm:pt modelId="{F8E3CB66-DEFF-4E13-B2EC-A8816277C2DD}" type="sibTrans" cxnId="{6D07CB9F-23A7-47EF-BE6F-E3BE5CC7927C}">
      <dgm:prSet/>
      <dgm:spPr/>
      <dgm:t>
        <a:bodyPr/>
        <a:lstStyle/>
        <a:p>
          <a:endParaRPr lang="en-US"/>
        </a:p>
      </dgm:t>
    </dgm:pt>
    <dgm:pt modelId="{FB01D385-63B4-4202-BC37-7C0B14FCE9FB}">
      <dgm:prSet/>
      <dgm:spPr/>
      <dgm:t>
        <a:bodyPr/>
        <a:lstStyle/>
        <a:p>
          <a:r>
            <a:rPr lang="en-US" b="0" i="0"/>
            <a:t>Methodology: </a:t>
          </a:r>
          <a:endParaRPr lang="en-US"/>
        </a:p>
      </dgm:t>
    </dgm:pt>
    <dgm:pt modelId="{94A13831-D438-4B1C-802B-E627D09C49A8}" type="parTrans" cxnId="{26A5E6A6-FC61-4B98-B5AF-D2A2BC40356A}">
      <dgm:prSet/>
      <dgm:spPr/>
      <dgm:t>
        <a:bodyPr/>
        <a:lstStyle/>
        <a:p>
          <a:endParaRPr lang="en-US"/>
        </a:p>
      </dgm:t>
    </dgm:pt>
    <dgm:pt modelId="{9FF5FFE2-A31B-4BE8-AA4F-AFCE34866600}" type="sibTrans" cxnId="{26A5E6A6-FC61-4B98-B5AF-D2A2BC40356A}">
      <dgm:prSet/>
      <dgm:spPr/>
      <dgm:t>
        <a:bodyPr/>
        <a:lstStyle/>
        <a:p>
          <a:endParaRPr lang="en-US"/>
        </a:p>
      </dgm:t>
    </dgm:pt>
    <dgm:pt modelId="{2124D35C-574F-435C-A634-EB08AF3E57A4}">
      <dgm:prSet/>
      <dgm:spPr/>
      <dgm:t>
        <a:bodyPr/>
        <a:lstStyle/>
        <a:p>
          <a:r>
            <a:rPr lang="en-US" b="0" i="0"/>
            <a:t>Clustering and regression analysis of 1500 songs </a:t>
          </a:r>
          <a:endParaRPr lang="en-US"/>
        </a:p>
      </dgm:t>
    </dgm:pt>
    <dgm:pt modelId="{DA9356F6-41ED-4510-AD5A-290A7E605A69}" type="parTrans" cxnId="{27676DBB-97E5-436F-9411-94D70111A3C4}">
      <dgm:prSet/>
      <dgm:spPr/>
      <dgm:t>
        <a:bodyPr/>
        <a:lstStyle/>
        <a:p>
          <a:endParaRPr lang="en-US"/>
        </a:p>
      </dgm:t>
    </dgm:pt>
    <dgm:pt modelId="{A038CFA2-F2F5-4E89-8797-2DB201004FCF}" type="sibTrans" cxnId="{27676DBB-97E5-436F-9411-94D70111A3C4}">
      <dgm:prSet/>
      <dgm:spPr/>
      <dgm:t>
        <a:bodyPr/>
        <a:lstStyle/>
        <a:p>
          <a:endParaRPr lang="en-US"/>
        </a:p>
      </dgm:t>
    </dgm:pt>
    <dgm:pt modelId="{2FB30B71-1C04-4B37-A9CE-128BA038433B}">
      <dgm:prSet/>
      <dgm:spPr/>
      <dgm:t>
        <a:bodyPr/>
        <a:lstStyle/>
        <a:p>
          <a:r>
            <a:rPr lang="en-US"/>
            <a:t>Features</a:t>
          </a:r>
          <a:br>
            <a:rPr lang="en-US"/>
          </a:br>
          <a:r>
            <a:rPr lang="en-US"/>
            <a:t>Danceability and Energy as key clustering dimensions</a:t>
          </a:r>
        </a:p>
      </dgm:t>
    </dgm:pt>
    <dgm:pt modelId="{3BCB31B2-01A6-497D-B32B-EB85DC8DB841}" type="parTrans" cxnId="{09DB6813-5C60-45C6-9C28-60EC93FD78D3}">
      <dgm:prSet/>
      <dgm:spPr/>
      <dgm:t>
        <a:bodyPr/>
        <a:lstStyle/>
        <a:p>
          <a:endParaRPr lang="en-US"/>
        </a:p>
      </dgm:t>
    </dgm:pt>
    <dgm:pt modelId="{71FA2378-908A-435B-B757-44A6A9AADB77}" type="sibTrans" cxnId="{09DB6813-5C60-45C6-9C28-60EC93FD78D3}">
      <dgm:prSet/>
      <dgm:spPr/>
      <dgm:t>
        <a:bodyPr/>
        <a:lstStyle/>
        <a:p>
          <a:endParaRPr lang="en-US"/>
        </a:p>
      </dgm:t>
    </dgm:pt>
    <dgm:pt modelId="{3F0ED370-4C9C-4945-ACF8-39B58704F0C9}" type="pres">
      <dgm:prSet presAssocID="{4947889D-3C7C-4B24-88EA-F720FDABB809}" presName="Name0" presStyleCnt="0">
        <dgm:presLayoutVars>
          <dgm:dir/>
          <dgm:resizeHandles val="exact"/>
        </dgm:presLayoutVars>
      </dgm:prSet>
      <dgm:spPr/>
    </dgm:pt>
    <dgm:pt modelId="{F79D0A2D-6459-4635-842A-CCEC5A3692DC}" type="pres">
      <dgm:prSet presAssocID="{2C75283B-E593-4C3D-9F74-2467DCB5E0B8}" presName="node" presStyleLbl="node1" presStyleIdx="0" presStyleCnt="5">
        <dgm:presLayoutVars>
          <dgm:bulletEnabled val="1"/>
        </dgm:presLayoutVars>
      </dgm:prSet>
      <dgm:spPr/>
    </dgm:pt>
    <dgm:pt modelId="{751752EB-9243-429E-8AE3-8ED78E895A7E}" type="pres">
      <dgm:prSet presAssocID="{0217FEEC-D066-429E-B9B5-FEB654A9B475}" presName="sibTrans" presStyleLbl="sibTrans1D1" presStyleIdx="0" presStyleCnt="4"/>
      <dgm:spPr/>
    </dgm:pt>
    <dgm:pt modelId="{8FE0C8EE-222A-4A6E-81B5-549C5D734BF7}" type="pres">
      <dgm:prSet presAssocID="{0217FEEC-D066-429E-B9B5-FEB654A9B475}" presName="connectorText" presStyleLbl="sibTrans1D1" presStyleIdx="0" presStyleCnt="4"/>
      <dgm:spPr/>
    </dgm:pt>
    <dgm:pt modelId="{FDF922CC-AA9B-4486-B511-A384E12D69DD}" type="pres">
      <dgm:prSet presAssocID="{67AEBE18-782F-474E-876B-223B6C8C223B}" presName="node" presStyleLbl="node1" presStyleIdx="1" presStyleCnt="5">
        <dgm:presLayoutVars>
          <dgm:bulletEnabled val="1"/>
        </dgm:presLayoutVars>
      </dgm:prSet>
      <dgm:spPr/>
    </dgm:pt>
    <dgm:pt modelId="{AF134C6B-4E04-4D75-8D64-2F0641202621}" type="pres">
      <dgm:prSet presAssocID="{F0733D87-8EDF-4AD0-A6B4-2FCF4F5EBC9D}" presName="sibTrans" presStyleLbl="sibTrans1D1" presStyleIdx="1" presStyleCnt="4"/>
      <dgm:spPr/>
    </dgm:pt>
    <dgm:pt modelId="{C2F68F08-0D54-4BD1-90DF-E8684FCA83EA}" type="pres">
      <dgm:prSet presAssocID="{F0733D87-8EDF-4AD0-A6B4-2FCF4F5EBC9D}" presName="connectorText" presStyleLbl="sibTrans1D1" presStyleIdx="1" presStyleCnt="4"/>
      <dgm:spPr/>
    </dgm:pt>
    <dgm:pt modelId="{00A88729-A03E-4034-B092-FC6141F79F45}" type="pres">
      <dgm:prSet presAssocID="{70255757-6E3F-4436-A50A-936748E575DE}" presName="node" presStyleLbl="node1" presStyleIdx="2" presStyleCnt="5">
        <dgm:presLayoutVars>
          <dgm:bulletEnabled val="1"/>
        </dgm:presLayoutVars>
      </dgm:prSet>
      <dgm:spPr/>
    </dgm:pt>
    <dgm:pt modelId="{088E59A6-F738-4245-8E0C-B68A0AB7CF02}" type="pres">
      <dgm:prSet presAssocID="{E217C48F-D9E3-4468-AC38-492A14AD622E}" presName="sibTrans" presStyleLbl="sibTrans1D1" presStyleIdx="2" presStyleCnt="4"/>
      <dgm:spPr/>
    </dgm:pt>
    <dgm:pt modelId="{30903CEB-EA4B-4C29-8113-799F6CBEAA66}" type="pres">
      <dgm:prSet presAssocID="{E217C48F-D9E3-4468-AC38-492A14AD622E}" presName="connectorText" presStyleLbl="sibTrans1D1" presStyleIdx="2" presStyleCnt="4"/>
      <dgm:spPr/>
    </dgm:pt>
    <dgm:pt modelId="{5F4CDA2F-0F8B-415C-BED7-A4FD5C7EF6FE}" type="pres">
      <dgm:prSet presAssocID="{FB01D385-63B4-4202-BC37-7C0B14FCE9FB}" presName="node" presStyleLbl="node1" presStyleIdx="3" presStyleCnt="5">
        <dgm:presLayoutVars>
          <dgm:bulletEnabled val="1"/>
        </dgm:presLayoutVars>
      </dgm:prSet>
      <dgm:spPr/>
    </dgm:pt>
    <dgm:pt modelId="{3FA9CD62-5319-4FE2-87B7-401B17598B12}" type="pres">
      <dgm:prSet presAssocID="{9FF5FFE2-A31B-4BE8-AA4F-AFCE34866600}" presName="sibTrans" presStyleLbl="sibTrans1D1" presStyleIdx="3" presStyleCnt="4"/>
      <dgm:spPr/>
    </dgm:pt>
    <dgm:pt modelId="{4B1D7B08-6A93-4C2D-B15E-022EE6CD3B56}" type="pres">
      <dgm:prSet presAssocID="{9FF5FFE2-A31B-4BE8-AA4F-AFCE34866600}" presName="connectorText" presStyleLbl="sibTrans1D1" presStyleIdx="3" presStyleCnt="4"/>
      <dgm:spPr/>
    </dgm:pt>
    <dgm:pt modelId="{011D4205-CA68-42CB-B1D9-388161478006}" type="pres">
      <dgm:prSet presAssocID="{2FB30B71-1C04-4B37-A9CE-128BA038433B}" presName="node" presStyleLbl="node1" presStyleIdx="4" presStyleCnt="5">
        <dgm:presLayoutVars>
          <dgm:bulletEnabled val="1"/>
        </dgm:presLayoutVars>
      </dgm:prSet>
      <dgm:spPr/>
    </dgm:pt>
  </dgm:ptLst>
  <dgm:cxnLst>
    <dgm:cxn modelId="{2B23AD0C-06F0-42A2-8423-02647DBCEB49}" type="presOf" srcId="{2C75283B-E593-4C3D-9F74-2467DCB5E0B8}" destId="{F79D0A2D-6459-4635-842A-CCEC5A3692DC}" srcOrd="0" destOrd="0" presId="urn:microsoft.com/office/officeart/2005/8/layout/bProcess3"/>
    <dgm:cxn modelId="{09DB6813-5C60-45C6-9C28-60EC93FD78D3}" srcId="{4947889D-3C7C-4B24-88EA-F720FDABB809}" destId="{2FB30B71-1C04-4B37-A9CE-128BA038433B}" srcOrd="4" destOrd="0" parTransId="{3BCB31B2-01A6-497D-B32B-EB85DC8DB841}" sibTransId="{71FA2378-908A-435B-B757-44A6A9AADB77}"/>
    <dgm:cxn modelId="{7E783324-EC77-4C1B-8C78-58C1595F8B85}" type="presOf" srcId="{F0733D87-8EDF-4AD0-A6B4-2FCF4F5EBC9D}" destId="{AF134C6B-4E04-4D75-8D64-2F0641202621}" srcOrd="0" destOrd="0" presId="urn:microsoft.com/office/officeart/2005/8/layout/bProcess3"/>
    <dgm:cxn modelId="{21E3273D-004A-4510-B5A9-9CCA6E54C038}" type="presOf" srcId="{2FB30B71-1C04-4B37-A9CE-128BA038433B}" destId="{011D4205-CA68-42CB-B1D9-388161478006}" srcOrd="0" destOrd="0" presId="urn:microsoft.com/office/officeart/2005/8/layout/bProcess3"/>
    <dgm:cxn modelId="{1BBA0563-0C44-4A56-961A-164AFD9C9A01}" srcId="{67AEBE18-782F-474E-876B-223B6C8C223B}" destId="{37510151-7C17-41CD-976D-5C5500A1170E}" srcOrd="1" destOrd="0" parTransId="{764A4FA0-4960-4F19-8016-8BCC7CD31E32}" sibTransId="{E2364379-B282-4A64-89DA-3C66359D7199}"/>
    <dgm:cxn modelId="{AB68B64B-2273-46DD-8444-7B053A7AF78F}" type="presOf" srcId="{4947889D-3C7C-4B24-88EA-F720FDABB809}" destId="{3F0ED370-4C9C-4945-ACF8-39B58704F0C9}" srcOrd="0" destOrd="0" presId="urn:microsoft.com/office/officeart/2005/8/layout/bProcess3"/>
    <dgm:cxn modelId="{AABB686D-4A3D-4DDE-86CF-BBD9B53A117D}" type="presOf" srcId="{FB01D385-63B4-4202-BC37-7C0B14FCE9FB}" destId="{5F4CDA2F-0F8B-415C-BED7-A4FD5C7EF6FE}" srcOrd="0" destOrd="0" presId="urn:microsoft.com/office/officeart/2005/8/layout/bProcess3"/>
    <dgm:cxn modelId="{03F07372-F9FE-40E9-8D60-FB77BF113B9C}" type="presOf" srcId="{F0733D87-8EDF-4AD0-A6B4-2FCF4F5EBC9D}" destId="{C2F68F08-0D54-4BD1-90DF-E8684FCA83EA}" srcOrd="1" destOrd="0" presId="urn:microsoft.com/office/officeart/2005/8/layout/bProcess3"/>
    <dgm:cxn modelId="{22FD7E7A-D3E4-4446-B6ED-5225440BD70C}" type="presOf" srcId="{9FF5FFE2-A31B-4BE8-AA4F-AFCE34866600}" destId="{4B1D7B08-6A93-4C2D-B15E-022EE6CD3B56}" srcOrd="1" destOrd="0" presId="urn:microsoft.com/office/officeart/2005/8/layout/bProcess3"/>
    <dgm:cxn modelId="{1B225B81-CF88-4B37-86DD-C699453BB213}" type="presOf" srcId="{F1C16023-AE24-4DCC-865D-7D5402918671}" destId="{00A88729-A03E-4034-B092-FC6141F79F45}" srcOrd="0" destOrd="1" presId="urn:microsoft.com/office/officeart/2005/8/layout/bProcess3"/>
    <dgm:cxn modelId="{0E942990-D60D-471F-9400-28AF719D0BE3}" type="presOf" srcId="{0217FEEC-D066-429E-B9B5-FEB654A9B475}" destId="{8FE0C8EE-222A-4A6E-81B5-549C5D734BF7}" srcOrd="1" destOrd="0" presId="urn:microsoft.com/office/officeart/2005/8/layout/bProcess3"/>
    <dgm:cxn modelId="{1F584291-524F-4968-92E3-D8A2705FE87D}" type="presOf" srcId="{67AEBE18-782F-474E-876B-223B6C8C223B}" destId="{FDF922CC-AA9B-4486-B511-A384E12D69DD}" srcOrd="0" destOrd="0" presId="urn:microsoft.com/office/officeart/2005/8/layout/bProcess3"/>
    <dgm:cxn modelId="{36688B9D-F8DB-42A1-ADAC-24505DBFD11A}" srcId="{4947889D-3C7C-4B24-88EA-F720FDABB809}" destId="{2C75283B-E593-4C3D-9F74-2467DCB5E0B8}" srcOrd="0" destOrd="0" parTransId="{87ADAA30-AF6D-4607-882B-90EFB2CC1469}" sibTransId="{0217FEEC-D066-429E-B9B5-FEB654A9B475}"/>
    <dgm:cxn modelId="{6D07CB9F-23A7-47EF-BE6F-E3BE5CC7927C}" srcId="{70255757-6E3F-4436-A50A-936748E575DE}" destId="{F1C16023-AE24-4DCC-865D-7D5402918671}" srcOrd="0" destOrd="0" parTransId="{B6AF0A3D-815B-4538-AB29-F49737975233}" sibTransId="{F8E3CB66-DEFF-4E13-B2EC-A8816277C2DD}"/>
    <dgm:cxn modelId="{26A5E6A6-FC61-4B98-B5AF-D2A2BC40356A}" srcId="{4947889D-3C7C-4B24-88EA-F720FDABB809}" destId="{FB01D385-63B4-4202-BC37-7C0B14FCE9FB}" srcOrd="3" destOrd="0" parTransId="{94A13831-D438-4B1C-802B-E627D09C49A8}" sibTransId="{9FF5FFE2-A31B-4BE8-AA4F-AFCE34866600}"/>
    <dgm:cxn modelId="{996FA3B5-8D71-4F99-AC8B-D2593DFCA1F9}" type="presOf" srcId="{E217C48F-D9E3-4468-AC38-492A14AD622E}" destId="{30903CEB-EA4B-4C29-8113-799F6CBEAA66}" srcOrd="1" destOrd="0" presId="urn:microsoft.com/office/officeart/2005/8/layout/bProcess3"/>
    <dgm:cxn modelId="{0624D8B8-1031-461A-B895-46147AE6C183}" type="presOf" srcId="{70255757-6E3F-4436-A50A-936748E575DE}" destId="{00A88729-A03E-4034-B092-FC6141F79F45}" srcOrd="0" destOrd="0" presId="urn:microsoft.com/office/officeart/2005/8/layout/bProcess3"/>
    <dgm:cxn modelId="{890E63BA-66BC-4D6E-897A-4CB15214B266}" type="presOf" srcId="{9FF5FFE2-A31B-4BE8-AA4F-AFCE34866600}" destId="{3FA9CD62-5319-4FE2-87B7-401B17598B12}" srcOrd="0" destOrd="0" presId="urn:microsoft.com/office/officeart/2005/8/layout/bProcess3"/>
    <dgm:cxn modelId="{27676DBB-97E5-436F-9411-94D70111A3C4}" srcId="{FB01D385-63B4-4202-BC37-7C0B14FCE9FB}" destId="{2124D35C-574F-435C-A634-EB08AF3E57A4}" srcOrd="0" destOrd="0" parTransId="{DA9356F6-41ED-4510-AD5A-290A7E605A69}" sibTransId="{A038CFA2-F2F5-4E89-8797-2DB201004FCF}"/>
    <dgm:cxn modelId="{DD4B62D8-66BB-4978-B7C2-639B7E7517B9}" srcId="{4947889D-3C7C-4B24-88EA-F720FDABB809}" destId="{70255757-6E3F-4436-A50A-936748E575DE}" srcOrd="2" destOrd="0" parTransId="{A538E96F-00DD-4AE7-A9CA-34B926EC225E}" sibTransId="{E217C48F-D9E3-4468-AC38-492A14AD622E}"/>
    <dgm:cxn modelId="{97AF10D9-4EB0-4EF3-89A9-AD8D9393EA6B}" type="presOf" srcId="{37510151-7C17-41CD-976D-5C5500A1170E}" destId="{FDF922CC-AA9B-4486-B511-A384E12D69DD}" srcOrd="0" destOrd="2" presId="urn:microsoft.com/office/officeart/2005/8/layout/bProcess3"/>
    <dgm:cxn modelId="{5683ECDE-D239-40AC-A0C0-99FAA8B0401D}" srcId="{4947889D-3C7C-4B24-88EA-F720FDABB809}" destId="{67AEBE18-782F-474E-876B-223B6C8C223B}" srcOrd="1" destOrd="0" parTransId="{47D9B6A4-6C9E-4C6F-9BE4-C91035CC907E}" sibTransId="{F0733D87-8EDF-4AD0-A6B4-2FCF4F5EBC9D}"/>
    <dgm:cxn modelId="{7D2350E5-4E11-4836-87FA-61906760DCDC}" type="presOf" srcId="{2124D35C-574F-435C-A634-EB08AF3E57A4}" destId="{5F4CDA2F-0F8B-415C-BED7-A4FD5C7EF6FE}" srcOrd="0" destOrd="1" presId="urn:microsoft.com/office/officeart/2005/8/layout/bProcess3"/>
    <dgm:cxn modelId="{60F3BCE6-EBE1-4354-B8BE-F5E70420967B}" srcId="{67AEBE18-782F-474E-876B-223B6C8C223B}" destId="{AB343FC7-21FE-47A5-9F50-9E5C9A7BA888}" srcOrd="0" destOrd="0" parTransId="{0166D01A-45DA-4F42-8156-E6F9E9503893}" sibTransId="{B4ED68DB-AD4A-47B9-8D15-6E180DF75CDF}"/>
    <dgm:cxn modelId="{F1C9BBE7-B150-4609-9AED-C355FB646DA1}" type="presOf" srcId="{AB343FC7-21FE-47A5-9F50-9E5C9A7BA888}" destId="{FDF922CC-AA9B-4486-B511-A384E12D69DD}" srcOrd="0" destOrd="1" presId="urn:microsoft.com/office/officeart/2005/8/layout/bProcess3"/>
    <dgm:cxn modelId="{C2AD89EA-BBF6-4EED-88E6-090912E1134F}" type="presOf" srcId="{0217FEEC-D066-429E-B9B5-FEB654A9B475}" destId="{751752EB-9243-429E-8AE3-8ED78E895A7E}" srcOrd="0" destOrd="0" presId="urn:microsoft.com/office/officeart/2005/8/layout/bProcess3"/>
    <dgm:cxn modelId="{49BD61ED-B631-4121-A62D-B9CB31BEDD10}" type="presOf" srcId="{E217C48F-D9E3-4468-AC38-492A14AD622E}" destId="{088E59A6-F738-4245-8E0C-B68A0AB7CF02}" srcOrd="0" destOrd="0" presId="urn:microsoft.com/office/officeart/2005/8/layout/bProcess3"/>
    <dgm:cxn modelId="{DDDCA988-C70F-4D95-ADC8-A130E87844FF}" type="presParOf" srcId="{3F0ED370-4C9C-4945-ACF8-39B58704F0C9}" destId="{F79D0A2D-6459-4635-842A-CCEC5A3692DC}" srcOrd="0" destOrd="0" presId="urn:microsoft.com/office/officeart/2005/8/layout/bProcess3"/>
    <dgm:cxn modelId="{168467B9-DDFC-4F3D-ABF2-70A1B9E41EA5}" type="presParOf" srcId="{3F0ED370-4C9C-4945-ACF8-39B58704F0C9}" destId="{751752EB-9243-429E-8AE3-8ED78E895A7E}" srcOrd="1" destOrd="0" presId="urn:microsoft.com/office/officeart/2005/8/layout/bProcess3"/>
    <dgm:cxn modelId="{66759343-BE7E-4A2A-A36F-D93E88AD76FC}" type="presParOf" srcId="{751752EB-9243-429E-8AE3-8ED78E895A7E}" destId="{8FE0C8EE-222A-4A6E-81B5-549C5D734BF7}" srcOrd="0" destOrd="0" presId="urn:microsoft.com/office/officeart/2005/8/layout/bProcess3"/>
    <dgm:cxn modelId="{236B74E5-15FA-47B1-B11D-EC8F7BB6B1AC}" type="presParOf" srcId="{3F0ED370-4C9C-4945-ACF8-39B58704F0C9}" destId="{FDF922CC-AA9B-4486-B511-A384E12D69DD}" srcOrd="2" destOrd="0" presId="urn:microsoft.com/office/officeart/2005/8/layout/bProcess3"/>
    <dgm:cxn modelId="{32E0C37E-FCAA-4662-BB71-FE970F9288E5}" type="presParOf" srcId="{3F0ED370-4C9C-4945-ACF8-39B58704F0C9}" destId="{AF134C6B-4E04-4D75-8D64-2F0641202621}" srcOrd="3" destOrd="0" presId="urn:microsoft.com/office/officeart/2005/8/layout/bProcess3"/>
    <dgm:cxn modelId="{AF163C7A-2922-4AB2-A4C5-2ACC8D01BC80}" type="presParOf" srcId="{AF134C6B-4E04-4D75-8D64-2F0641202621}" destId="{C2F68F08-0D54-4BD1-90DF-E8684FCA83EA}" srcOrd="0" destOrd="0" presId="urn:microsoft.com/office/officeart/2005/8/layout/bProcess3"/>
    <dgm:cxn modelId="{38A28BED-2421-468D-8C1C-E6C983A40AC0}" type="presParOf" srcId="{3F0ED370-4C9C-4945-ACF8-39B58704F0C9}" destId="{00A88729-A03E-4034-B092-FC6141F79F45}" srcOrd="4" destOrd="0" presId="urn:microsoft.com/office/officeart/2005/8/layout/bProcess3"/>
    <dgm:cxn modelId="{393E5AF9-7D34-4D4D-B7BC-4862277DA241}" type="presParOf" srcId="{3F0ED370-4C9C-4945-ACF8-39B58704F0C9}" destId="{088E59A6-F738-4245-8E0C-B68A0AB7CF02}" srcOrd="5" destOrd="0" presId="urn:microsoft.com/office/officeart/2005/8/layout/bProcess3"/>
    <dgm:cxn modelId="{493E056B-4789-43F0-A107-D2073763D0FB}" type="presParOf" srcId="{088E59A6-F738-4245-8E0C-B68A0AB7CF02}" destId="{30903CEB-EA4B-4C29-8113-799F6CBEAA66}" srcOrd="0" destOrd="0" presId="urn:microsoft.com/office/officeart/2005/8/layout/bProcess3"/>
    <dgm:cxn modelId="{D3A53A22-222A-4C31-B40F-6B1A85973042}" type="presParOf" srcId="{3F0ED370-4C9C-4945-ACF8-39B58704F0C9}" destId="{5F4CDA2F-0F8B-415C-BED7-A4FD5C7EF6FE}" srcOrd="6" destOrd="0" presId="urn:microsoft.com/office/officeart/2005/8/layout/bProcess3"/>
    <dgm:cxn modelId="{5B77FA1A-3483-4A18-8516-BAEA4143F7C3}" type="presParOf" srcId="{3F0ED370-4C9C-4945-ACF8-39B58704F0C9}" destId="{3FA9CD62-5319-4FE2-87B7-401B17598B12}" srcOrd="7" destOrd="0" presId="urn:microsoft.com/office/officeart/2005/8/layout/bProcess3"/>
    <dgm:cxn modelId="{6B1B0E7A-C02F-4D2D-84FA-E2087E75488E}" type="presParOf" srcId="{3FA9CD62-5319-4FE2-87B7-401B17598B12}" destId="{4B1D7B08-6A93-4C2D-B15E-022EE6CD3B56}" srcOrd="0" destOrd="0" presId="urn:microsoft.com/office/officeart/2005/8/layout/bProcess3"/>
    <dgm:cxn modelId="{A2B8699B-19B6-4E81-9186-871FC6119CAF}" type="presParOf" srcId="{3F0ED370-4C9C-4945-ACF8-39B58704F0C9}" destId="{011D4205-CA68-42CB-B1D9-388161478006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1752EB-9243-429E-8AE3-8ED78E895A7E}">
      <dsp:nvSpPr>
        <dsp:cNvPr id="0" name=""/>
        <dsp:cNvSpPr/>
      </dsp:nvSpPr>
      <dsp:spPr>
        <a:xfrm>
          <a:off x="3275874" y="581345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88491" y="624666"/>
        <a:ext cx="23991" cy="4798"/>
      </dsp:txXfrm>
    </dsp:sp>
    <dsp:sp modelId="{F79D0A2D-6459-4635-842A-CCEC5A3692DC}">
      <dsp:nvSpPr>
        <dsp:cNvPr id="0" name=""/>
        <dsp:cNvSpPr/>
      </dsp:nvSpPr>
      <dsp:spPr>
        <a:xfrm>
          <a:off x="1191476" y="1206"/>
          <a:ext cx="2086197" cy="125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Analyzing Song Features &amp; Success Patterns for Spotify</a:t>
          </a:r>
        </a:p>
      </dsp:txBody>
      <dsp:txXfrm>
        <a:off x="1191476" y="1206"/>
        <a:ext cx="2086197" cy="1251718"/>
      </dsp:txXfrm>
    </dsp:sp>
    <dsp:sp modelId="{AF134C6B-4E04-4D75-8D64-2F0641202621}">
      <dsp:nvSpPr>
        <dsp:cNvPr id="0" name=""/>
        <dsp:cNvSpPr/>
      </dsp:nvSpPr>
      <dsp:spPr>
        <a:xfrm>
          <a:off x="5841897" y="581345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4514" y="624666"/>
        <a:ext cx="23991" cy="4798"/>
      </dsp:txXfrm>
    </dsp:sp>
    <dsp:sp modelId="{FDF922CC-AA9B-4486-B511-A384E12D69DD}">
      <dsp:nvSpPr>
        <dsp:cNvPr id="0" name=""/>
        <dsp:cNvSpPr/>
      </dsp:nvSpPr>
      <dsp:spPr>
        <a:xfrm>
          <a:off x="3757499" y="1206"/>
          <a:ext cx="2086197" cy="125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Analyzing aspects: 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Relationship between song valence and success across different music clusters 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Feature combinations driving song popularity </a:t>
          </a:r>
          <a:endParaRPr lang="en-US" sz="1100" kern="1200"/>
        </a:p>
      </dsp:txBody>
      <dsp:txXfrm>
        <a:off x="3757499" y="1206"/>
        <a:ext cx="2086197" cy="1251718"/>
      </dsp:txXfrm>
    </dsp:sp>
    <dsp:sp modelId="{088E59A6-F738-4245-8E0C-B68A0AB7CF02}">
      <dsp:nvSpPr>
        <dsp:cNvPr id="0" name=""/>
        <dsp:cNvSpPr/>
      </dsp:nvSpPr>
      <dsp:spPr>
        <a:xfrm>
          <a:off x="2234575" y="1251124"/>
          <a:ext cx="5132046" cy="449225"/>
        </a:xfrm>
        <a:custGeom>
          <a:avLst/>
          <a:gdLst/>
          <a:ahLst/>
          <a:cxnLst/>
          <a:rect l="0" t="0" r="0" b="0"/>
          <a:pathLst>
            <a:path>
              <a:moveTo>
                <a:pt x="5132046" y="0"/>
              </a:moveTo>
              <a:lnTo>
                <a:pt x="5132046" y="241712"/>
              </a:lnTo>
              <a:lnTo>
                <a:pt x="0" y="241712"/>
              </a:lnTo>
              <a:lnTo>
                <a:pt x="0" y="449225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71737" y="1473338"/>
        <a:ext cx="257721" cy="4798"/>
      </dsp:txXfrm>
    </dsp:sp>
    <dsp:sp modelId="{00A88729-A03E-4034-B092-FC6141F79F45}">
      <dsp:nvSpPr>
        <dsp:cNvPr id="0" name=""/>
        <dsp:cNvSpPr/>
      </dsp:nvSpPr>
      <dsp:spPr>
        <a:xfrm>
          <a:off x="6323522" y="1206"/>
          <a:ext cx="2086197" cy="125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Purpose: 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Enhance playlist recommendations through data-driven insights </a:t>
          </a:r>
          <a:endParaRPr lang="en-US" sz="1100" kern="1200"/>
        </a:p>
      </dsp:txBody>
      <dsp:txXfrm>
        <a:off x="6323522" y="1206"/>
        <a:ext cx="2086197" cy="1251718"/>
      </dsp:txXfrm>
    </dsp:sp>
    <dsp:sp modelId="{3FA9CD62-5319-4FE2-87B7-401B17598B12}">
      <dsp:nvSpPr>
        <dsp:cNvPr id="0" name=""/>
        <dsp:cNvSpPr/>
      </dsp:nvSpPr>
      <dsp:spPr>
        <a:xfrm>
          <a:off x="3275874" y="2312889"/>
          <a:ext cx="4492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9225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88491" y="2356210"/>
        <a:ext cx="23991" cy="4798"/>
      </dsp:txXfrm>
    </dsp:sp>
    <dsp:sp modelId="{5F4CDA2F-0F8B-415C-BED7-A4FD5C7EF6FE}">
      <dsp:nvSpPr>
        <dsp:cNvPr id="0" name=""/>
        <dsp:cNvSpPr/>
      </dsp:nvSpPr>
      <dsp:spPr>
        <a:xfrm>
          <a:off x="1191476" y="1732750"/>
          <a:ext cx="2086197" cy="125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Methodology: </a:t>
          </a:r>
          <a:endParaRPr lang="en-US" sz="14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/>
            <a:t>Clustering and regression analysis of 1500 songs </a:t>
          </a:r>
          <a:endParaRPr lang="en-US" sz="1100" kern="1200"/>
        </a:p>
      </dsp:txBody>
      <dsp:txXfrm>
        <a:off x="1191476" y="1732750"/>
        <a:ext cx="2086197" cy="1251718"/>
      </dsp:txXfrm>
    </dsp:sp>
    <dsp:sp modelId="{011D4205-CA68-42CB-B1D9-388161478006}">
      <dsp:nvSpPr>
        <dsp:cNvPr id="0" name=""/>
        <dsp:cNvSpPr/>
      </dsp:nvSpPr>
      <dsp:spPr>
        <a:xfrm>
          <a:off x="3757499" y="1732750"/>
          <a:ext cx="2086197" cy="125171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Features</a:t>
          </a:r>
          <a:br>
            <a:rPr lang="en-US" sz="1400" kern="1200"/>
          </a:br>
          <a:r>
            <a:rPr lang="en-US" sz="1400" kern="1200"/>
            <a:t>Danceability and Energy as key clustering dimensions</a:t>
          </a:r>
        </a:p>
      </dsp:txBody>
      <dsp:txXfrm>
        <a:off x="3757499" y="1732750"/>
        <a:ext cx="2086197" cy="1251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061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bc837ec85_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bc837ec85_8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g31bc837ec85_8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1bc837ec85_8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1bc837ec85_8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1bc837ec85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1bc837ec85_8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1bc837ec85_8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1bc837ec85_8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1bc837ec85_8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1bc837ec85_8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1bc837ec85_8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1bc837ec85_8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1bc837ec85_8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1bc837ec85_8_4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g31bc837ec85_8_4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1bc837ec85_4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1bc837ec85_4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6" name="Google Shape;5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34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8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899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6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43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92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772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2953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355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6447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18236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178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84535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809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889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43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>
              <a:spcBef>
                <a:spcPts val="900"/>
              </a:spcBef>
              <a:spcAft>
                <a:spcPts val="0"/>
              </a:spcAft>
              <a:buSzPts val="1400"/>
              <a:buChar char="◦"/>
              <a:defRPr/>
            </a:lvl1pPr>
            <a:lvl2pPr marL="914400" lvl="1" indent="-311150">
              <a:spcBef>
                <a:spcPts val="500"/>
              </a:spcBef>
              <a:spcAft>
                <a:spcPts val="0"/>
              </a:spcAft>
              <a:buSzPts val="1300"/>
              <a:buChar char="◦"/>
              <a:defRPr/>
            </a:lvl2pPr>
            <a:lvl3pPr marL="1371600" lvl="2" indent="-298450">
              <a:spcBef>
                <a:spcPts val="500"/>
              </a:spcBef>
              <a:spcAft>
                <a:spcPts val="0"/>
              </a:spcAft>
              <a:buSzPts val="1100"/>
              <a:buChar char="◦"/>
              <a:defRPr/>
            </a:lvl3pPr>
            <a:lvl4pPr marL="1828800" lvl="3" indent="-298450">
              <a:spcBef>
                <a:spcPts val="500"/>
              </a:spcBef>
              <a:spcAft>
                <a:spcPts val="0"/>
              </a:spcAft>
              <a:buSzPts val="1100"/>
              <a:buChar char="◦"/>
              <a:defRPr/>
            </a:lvl4pPr>
            <a:lvl5pPr marL="2286000" lvl="4" indent="-298450">
              <a:spcBef>
                <a:spcPts val="500"/>
              </a:spcBef>
              <a:spcAft>
                <a:spcPts val="0"/>
              </a:spcAft>
              <a:buSzPts val="1100"/>
              <a:buChar char="◦"/>
              <a:defRPr/>
            </a:lvl5pPr>
            <a:lvl6pPr marL="2743200" lvl="5" indent="-317500">
              <a:spcBef>
                <a:spcPts val="500"/>
              </a:spcBef>
              <a:spcAft>
                <a:spcPts val="0"/>
              </a:spcAft>
              <a:buSzPts val="1400"/>
              <a:buChar char="◦"/>
              <a:defRPr/>
            </a:lvl6pPr>
            <a:lvl7pPr marL="3200400" lvl="6" indent="-317500">
              <a:spcBef>
                <a:spcPts val="500"/>
              </a:spcBef>
              <a:spcAft>
                <a:spcPts val="0"/>
              </a:spcAft>
              <a:buSzPts val="1400"/>
              <a:buChar char="◦"/>
              <a:defRPr/>
            </a:lvl7pPr>
            <a:lvl8pPr marL="3657600" lvl="7" indent="-317500">
              <a:spcBef>
                <a:spcPts val="500"/>
              </a:spcBef>
              <a:spcAft>
                <a:spcPts val="0"/>
              </a:spcAft>
              <a:buSzPts val="1400"/>
              <a:buChar char="◦"/>
              <a:defRPr/>
            </a:lvl8pPr>
            <a:lvl9pPr marL="4114800" lvl="8" indent="-317500">
              <a:spcBef>
                <a:spcPts val="500"/>
              </a:spcBef>
              <a:spcAft>
                <a:spcPts val="0"/>
              </a:spcAft>
              <a:buSzPts val="1400"/>
              <a:buChar char="◦"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2776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8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DC5479-2C16-D55F-D4F3-D8CAB5C04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800" dirty="0">
                <a:latin typeface="Times New Roman"/>
                <a:ea typeface="Times New Roman"/>
                <a:cs typeface="Times New Roman"/>
                <a:sym typeface="Times New Roman"/>
              </a:rPr>
              <a:t>Predicting Song Popularity and Enhancing Spotify's Recommender Systems: A Business Data Analytics Approach</a:t>
            </a:r>
            <a:endParaRPr lang="en-IN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EC83BFF-0111-C30D-F69E-96A3256B3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7484" y="4070552"/>
            <a:ext cx="2045383" cy="1320802"/>
          </a:xfrm>
        </p:spPr>
        <p:txBody>
          <a:bodyPr>
            <a:normAutofit fontScale="62500" lnSpcReduction="20000"/>
          </a:bodyPr>
          <a:lstStyle/>
          <a:p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Members,</a:t>
            </a:r>
          </a:p>
          <a:p>
            <a:pPr algn="l"/>
            <a:b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Anjelina Sajan</a:t>
            </a:r>
            <a:b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2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Kirthan</a:t>
            </a:r>
            <a: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Shekhar</a:t>
            </a:r>
            <a:b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2200" dirty="0" err="1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Lakshmy</a:t>
            </a:r>
            <a: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Prakash</a:t>
            </a:r>
            <a:b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Saya Santhosh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42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878D9A-77BE-4701-AE3D-EEFC53CD5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43BE08-0ED1-4B73-AC6D-B7E26A59C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663" y="469900"/>
            <a:ext cx="369500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6B2094-7FC0-45FC-BFED-3CB88CEE6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668" y="635508"/>
            <a:ext cx="3364992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5891D-B59B-6DE5-DD33-024B28DF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108" y="954756"/>
            <a:ext cx="2730414" cy="494600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7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4B640-BB7F-4272-A710-068DBA9F9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0"/>
            <a:ext cx="7537704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08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0D6D03-0099-59BF-8D57-08D6D85CB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0934" y="469900"/>
            <a:ext cx="5953630" cy="5405968"/>
          </a:xfrm>
        </p:spPr>
        <p:txBody>
          <a:bodyPr anchor="ctr">
            <a:norm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Context: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needs to predict song popularity to enhance recommendations.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spans 1998-2020 U.S. Spotify charts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Improve user engagement through better song predictions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Objectives: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Develop three predictive models for song popularity 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Optimize model selection based on financial metrics 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Analyze feature patterns for improved recommendations 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Scope:</a:t>
            </a: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27 features including audio characteristics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1500+ songs across multiple genres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scores as target variable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comparison 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Profit-based optimization </a:t>
            </a:r>
            <a:b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analysis for insight generation</a:t>
            </a:r>
            <a:endParaRPr lang="en-US" sz="1700" dirty="0">
              <a:latin typeface="Times New Roman" panose="02020603050405020304" pitchFamily="18" charset="0"/>
              <a:ea typeface="Geo"/>
              <a:cs typeface="Times New Roman" panose="02020603050405020304" pitchFamily="18" charset="0"/>
              <a:sym typeface="Geo"/>
            </a:endParaRPr>
          </a:p>
          <a:p>
            <a:pPr>
              <a:lnSpc>
                <a:spcPct val="90000"/>
              </a:lnSpc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304147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91B6D-9DAC-74F0-0825-DA9E8657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990BB-CCFC-3893-8E4F-E531F8298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Predict Song Popularity (Q1)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evaluate predictive models.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best-performing model for predicting popularity.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Profit Maximization (Q2)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cost-benefit analysis into model selection.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predictions to maximize revenue and minimize errors.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3: Feature Insights and Clustering (Q3)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role of song characteristics (e.g., valence) in predicting success.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songs by danceability and energy to identify patterns.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13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3C199-3366-349E-141E-B50CF256D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Predict Song Popularity (Q1)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5E0C-3AD2-3C67-C962-5175C97F8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that Spotify wants to improve its song recommendation system by predicting which new songs are likely to become popular. Specifically, they want to predict whether a song's popularity score will exceed 50 based on various song characteristics like danceability, energy, tempo, etc.</a:t>
            </a: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develop and compare three different predictive models, using provided historical data from 1998-2020, and select the best model based on accuracy metrics to help Spotify prioritize songs that are more likely to engage users effectively.</a:t>
            </a: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"Key features like danceability, energy, tempo, and valence are analyzed to determine their relationship with popularity scores."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53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E13C-3F98-05B4-1FD3-4E7D2807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32B5-7F39-445B-9F26-325282FBC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Geo"/>
                <a:cs typeface="Times New Roman" panose="02020603050405020304" pitchFamily="18" charset="0"/>
                <a:sym typeface="Geo"/>
              </a:rPr>
              <a:t>Develop and compare three different predictive models to forecast whether a song's popularity score will exceed 50, using appropriate data preprocessing and feature selection techniques.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Geo"/>
                <a:cs typeface="Times New Roman" panose="02020603050405020304" pitchFamily="18" charset="0"/>
                <a:sym typeface="Geo"/>
              </a:rPr>
              <a:t>Create an appropriate data preprocessing pipeline including handling missing values, encoding categorical variables, and selecting relevant features for prediction.</a:t>
            </a:r>
          </a:p>
          <a:p>
            <a:pPr algn="just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Geo"/>
                <a:cs typeface="Times New Roman" panose="02020603050405020304" pitchFamily="18" charset="0"/>
                <a:sym typeface="Geo"/>
              </a:rPr>
              <a:t>Identify the best performing model based on accuracy metrics and justify why it's the most suitable choice for predicting song popularity.</a:t>
            </a:r>
          </a:p>
          <a:p>
            <a:pPr algn="just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Geo"/>
                <a:cs typeface="Times New Roman" panose="02020603050405020304" pitchFamily="18" charset="0"/>
                <a:sym typeface="Geo"/>
              </a:rPr>
              <a:t>Provide actionable managerial insights for Spotify about which song attributes are associated with higher engagement and popularity, to help them optimize playlists and song recommendations.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524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BEAFE-39D4-4E7E-FA5B-B259930E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 AND EVALUATION 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0A6C-0642-AE1F-ADF9-7FE3ECFB1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930558"/>
            <a:ext cx="9601196" cy="2221545"/>
          </a:xfrm>
        </p:spPr>
        <p:txBody>
          <a:bodyPr/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◦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 confusion matrix results, precision, recall, and F1 score.</a:t>
            </a: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◦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 its overfitting tendencies.</a:t>
            </a: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◦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Emphasize its balance and consistent metrics.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119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>
            <a:spLocks noGrp="1"/>
          </p:cNvSpPr>
          <p:nvPr>
            <p:ph type="title"/>
          </p:nvPr>
        </p:nvSpPr>
        <p:spPr>
          <a:xfrm>
            <a:off x="664325" y="540394"/>
            <a:ext cx="10058400" cy="13716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</p:txBody>
      </p:sp>
      <p:sp>
        <p:nvSpPr>
          <p:cNvPr id="240" name="Google Shape;240;p24"/>
          <p:cNvSpPr txBox="1">
            <a:spLocks noGrp="1"/>
          </p:cNvSpPr>
          <p:nvPr>
            <p:ph idx="1"/>
          </p:nvPr>
        </p:nvSpPr>
        <p:spPr>
          <a:xfrm>
            <a:off x="865500" y="2110768"/>
            <a:ext cx="10461000" cy="388790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 model predicting song popularity (&gt;50 = Popular)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-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Danceability, energy, valence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Binary popularity (1/0)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Threshold: 50 popularity score 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6CE8F8-02E5-186B-1EB8-9A796D5DD20A}"/>
              </a:ext>
            </a:extLst>
          </p:cNvPr>
          <p:cNvSpPr txBox="1"/>
          <p:nvPr/>
        </p:nvSpPr>
        <p:spPr>
          <a:xfrm>
            <a:off x="6705599" y="2984090"/>
            <a:ext cx="5142271" cy="2357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83.47%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 High stability across validation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 Feature-weighted probability calculation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to Spotify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→ Process → Output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Song features → Probability calculation → Popularity</a:t>
            </a:r>
            <a:endParaRPr lang="en-IN" sz="1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>
            <a:spLocks noGrp="1"/>
          </p:cNvSpPr>
          <p:nvPr>
            <p:ph type="title"/>
          </p:nvPr>
        </p:nvSpPr>
        <p:spPr>
          <a:xfrm>
            <a:off x="1313084" y="750652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CORRELATIONS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2995" y="2122252"/>
            <a:ext cx="4656587" cy="384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2284" y="2122252"/>
            <a:ext cx="4332630" cy="3776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 txBox="1"/>
          <p:nvPr/>
        </p:nvSpPr>
        <p:spPr>
          <a:xfrm>
            <a:off x="792075" y="5464975"/>
            <a:ext cx="4521300" cy="6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pic>
        <p:nvPicPr>
          <p:cNvPr id="258" name="Google Shape;258;p26"/>
          <p:cNvPicPr preferRelativeResize="0"/>
          <p:nvPr/>
        </p:nvPicPr>
        <p:blipFill rotWithShape="1">
          <a:blip r:embed="rId3">
            <a:alphaModFix/>
          </a:blip>
          <a:srcRect r="-4766"/>
          <a:stretch/>
        </p:blipFill>
        <p:spPr>
          <a:xfrm>
            <a:off x="1006475" y="2123943"/>
            <a:ext cx="3418801" cy="380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78627" y="2341266"/>
            <a:ext cx="4521300" cy="36005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E5268F-8DCC-6B44-19AC-687ECCDB2AD3}"/>
              </a:ext>
            </a:extLst>
          </p:cNvPr>
          <p:cNvSpPr txBox="1"/>
          <p:nvPr/>
        </p:nvSpPr>
        <p:spPr>
          <a:xfrm>
            <a:off x="3212705" y="916181"/>
            <a:ext cx="69863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0FA06-5A9D-DAC3-C2E1-F2ECF816BD4A}"/>
              </a:ext>
            </a:extLst>
          </p:cNvPr>
          <p:cNvSpPr txBox="1"/>
          <p:nvPr/>
        </p:nvSpPr>
        <p:spPr>
          <a:xfrm>
            <a:off x="4425276" y="3147455"/>
            <a:ext cx="25974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Findings: - Strong performance on popular songs (94.1% recall) - Balanced accuracy of 81.9% - Consistent cross-validation results - Slight overfitting mitigated by regularization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978310" y="687485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US" dirty="0"/>
              <a:t>DECISION TREE: INITIAL MODEL 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" name="Google Shape;30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129" y="2059085"/>
            <a:ext cx="10741741" cy="4095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834" y="1710813"/>
            <a:ext cx="8740065" cy="438957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F1ED9C-D3C8-CEA8-BC02-63F1DCA0F476}"/>
              </a:ext>
            </a:extLst>
          </p:cNvPr>
          <p:cNvSpPr txBox="1"/>
          <p:nvPr/>
        </p:nvSpPr>
        <p:spPr>
          <a:xfrm>
            <a:off x="3660950" y="866021"/>
            <a:ext cx="55223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FEATURE IMPORTANCE ANALYSIS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0"/>
          <p:cNvSpPr txBox="1">
            <a:spLocks noGrp="1"/>
          </p:cNvSpPr>
          <p:nvPr>
            <p:ph type="title"/>
          </p:nvPr>
        </p:nvSpPr>
        <p:spPr>
          <a:xfrm>
            <a:off x="2713703" y="943896"/>
            <a:ext cx="7541341" cy="52110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MODEL EVALUATION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8" name="Google Shape;29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969" y="1582914"/>
            <a:ext cx="5030873" cy="4473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582914"/>
            <a:ext cx="5145031" cy="4473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2"/>
          <p:cNvSpPr txBox="1">
            <a:spLocks noGrp="1"/>
          </p:cNvSpPr>
          <p:nvPr>
            <p:ph type="title"/>
          </p:nvPr>
        </p:nvSpPr>
        <p:spPr>
          <a:xfrm>
            <a:off x="944156" y="511966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HYPERPARAMETER OPTIMIZATION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4" name="Google Shape;314;p32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7363" y="2149037"/>
            <a:ext cx="5533265" cy="343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1091" y="2187625"/>
            <a:ext cx="4893546" cy="33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3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37007" y="1744836"/>
            <a:ext cx="6295500" cy="31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4617" y="2123769"/>
            <a:ext cx="4031976" cy="338505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3"/>
          <p:cNvSpPr txBox="1"/>
          <p:nvPr/>
        </p:nvSpPr>
        <p:spPr>
          <a:xfrm>
            <a:off x="937007" y="5023278"/>
            <a:ext cx="6132300" cy="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decision tree shows how songs are classified for popularity, starting with instrumental as the main factor where less instrumental songs (≤0.035) tend to be more popular, then considering factors like duration and genre for further decisions, and finally leading to predictions through a series of yes/no questions that result in either "Popular" or "Not Popular" classifications.</a:t>
            </a:r>
            <a:endParaRPr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670963-2389-5495-53DB-76EB8FA5BCF6}"/>
              </a:ext>
            </a:extLst>
          </p:cNvPr>
          <p:cNvSpPr txBox="1"/>
          <p:nvPr/>
        </p:nvSpPr>
        <p:spPr>
          <a:xfrm>
            <a:off x="3204941" y="790729"/>
            <a:ext cx="61156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DETAILED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4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4396" y="1736021"/>
            <a:ext cx="5207100" cy="31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4"/>
          <p:cNvPicPr preferRelativeResize="0"/>
          <p:nvPr/>
        </p:nvPicPr>
        <p:blipFill rotWithShape="1">
          <a:blip r:embed="rId4">
            <a:alphaModFix/>
          </a:blip>
          <a:srcRect t="-3508"/>
          <a:stretch/>
        </p:blipFill>
        <p:spPr>
          <a:xfrm>
            <a:off x="6190506" y="1736021"/>
            <a:ext cx="5342726" cy="31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EBE307-DC5F-68D4-DD14-25FD5DD22620}"/>
              </a:ext>
            </a:extLst>
          </p:cNvPr>
          <p:cNvSpPr txBox="1"/>
          <p:nvPr/>
        </p:nvSpPr>
        <p:spPr>
          <a:xfrm>
            <a:off x="3038168" y="660707"/>
            <a:ext cx="611566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TREE: TUNING IMPACT ANALYSIS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0ACF6-5C37-A240-E69E-EF4D09A30DCA}"/>
              </a:ext>
            </a:extLst>
          </p:cNvPr>
          <p:cNvSpPr txBox="1"/>
          <p:nvPr/>
        </p:nvSpPr>
        <p:spPr>
          <a:xfrm>
            <a:off x="4021394" y="4930122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Findings: </a:t>
            </a:r>
            <a:br>
              <a:rPr lang="en-US" dirty="0"/>
            </a:br>
            <a:r>
              <a:rPr lang="en-US" dirty="0"/>
              <a:t>- Reduced overfitting gap (20% → 1%) </a:t>
            </a:r>
            <a:br>
              <a:rPr lang="en-US" dirty="0"/>
            </a:br>
            <a:r>
              <a:rPr lang="en-US" dirty="0"/>
              <a:t>- Improved popular song detection </a:t>
            </a:r>
            <a:br>
              <a:rPr lang="en-US" dirty="0"/>
            </a:br>
            <a:r>
              <a:rPr lang="en-US" dirty="0"/>
              <a:t>- Trade-off: Lost unpopular song identification ability </a:t>
            </a:r>
            <a:br>
              <a:rPr lang="en-US" dirty="0"/>
            </a:br>
            <a:r>
              <a:rPr lang="en-US" dirty="0"/>
              <a:t>- Better overall stability in predictions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322" y="1462537"/>
            <a:ext cx="4443849" cy="33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0653" y="1462537"/>
            <a:ext cx="5866600" cy="33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AD7637-9D3D-0DB5-9C4D-B1E475F49BA6}"/>
              </a:ext>
            </a:extLst>
          </p:cNvPr>
          <p:cNvSpPr txBox="1"/>
          <p:nvPr/>
        </p:nvSpPr>
        <p:spPr>
          <a:xfrm>
            <a:off x="3490452" y="808978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MODEL: INITIAL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C9A5B-88F2-4953-1C73-5CE444600BAC}"/>
              </a:ext>
            </a:extLst>
          </p:cNvPr>
          <p:cNvSpPr txBox="1"/>
          <p:nvPr/>
        </p:nvSpPr>
        <p:spPr>
          <a:xfrm>
            <a:off x="3038168" y="4879471"/>
            <a:ext cx="61156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Performance Metrics:</a:t>
            </a:r>
          </a:p>
          <a:p>
            <a:r>
              <a:rPr lang="en-IN" dirty="0"/>
              <a:t>- Strong popular song detection: 376/378 correct (99.5% recall)</a:t>
            </a:r>
          </a:p>
          <a:p>
            <a:r>
              <a:rPr lang="en-IN" dirty="0"/>
              <a:t>- Precision on popular songs: 84.1%</a:t>
            </a:r>
          </a:p>
          <a:p>
            <a:r>
              <a:rPr lang="en-IN" dirty="0"/>
              <a:t>- Challenge: 71 false positives for unpopular songs</a:t>
            </a:r>
          </a:p>
          <a:p>
            <a:r>
              <a:rPr lang="en-IN" dirty="0"/>
              <a:t>- Optimal for Spotify's goal of maximizing engagement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482" y="2152859"/>
            <a:ext cx="6238000" cy="3440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7"/>
          <p:cNvSpPr txBox="1"/>
          <p:nvPr/>
        </p:nvSpPr>
        <p:spPr>
          <a:xfrm>
            <a:off x="7326604" y="2467935"/>
            <a:ext cx="4129200" cy="3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Choose K=7 or 9 for your model as it: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Provides highest accuracy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Shows stability (not too sensitive to small changes)</a:t>
            </a:r>
            <a:endParaRPr sz="1600" dirty="0">
              <a:solidFill>
                <a:schemeClr val="dk1"/>
              </a:solidFill>
            </a:endParaRPr>
          </a:p>
          <a:p>
            <a:pPr marL="457200" lvl="0" indent="-330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dirty="0">
                <a:solidFill>
                  <a:schemeClr val="dk1"/>
                </a:solidFill>
              </a:rPr>
              <a:t>Avoids overfitting (which might happen with K=1)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08FFF-5E55-61D7-6015-63B6BC403964}"/>
              </a:ext>
            </a:extLst>
          </p:cNvPr>
          <p:cNvSpPr txBox="1"/>
          <p:nvPr/>
        </p:nvSpPr>
        <p:spPr>
          <a:xfrm>
            <a:off x="3372465" y="1033583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MODEL: K-VALUE OPTIMIZATION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8"/>
          <p:cNvPicPr preferRelativeResize="0"/>
          <p:nvPr/>
        </p:nvPicPr>
        <p:blipFill rotWithShape="1">
          <a:blip r:embed="rId3">
            <a:alphaModFix/>
          </a:blip>
          <a:srcRect l="-17724" t="-31232" r="-33378" b="-19870"/>
          <a:stretch/>
        </p:blipFill>
        <p:spPr>
          <a:xfrm>
            <a:off x="386640" y="1096297"/>
            <a:ext cx="7203863" cy="402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2856" y="1936955"/>
            <a:ext cx="4464532" cy="262202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A75568-F33B-810E-9665-2487F1C19EE4}"/>
              </a:ext>
            </a:extLst>
          </p:cNvPr>
          <p:cNvSpPr txBox="1"/>
          <p:nvPr/>
        </p:nvSpPr>
        <p:spPr>
          <a:xfrm>
            <a:off x="2580968" y="1096297"/>
            <a:ext cx="7398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MODEL: OPTIMAL CONFIGURATION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5F366-135B-9C64-915E-8416D2026CD3}"/>
              </a:ext>
            </a:extLst>
          </p:cNvPr>
          <p:cNvSpPr txBox="1"/>
          <p:nvPr/>
        </p:nvSpPr>
        <p:spPr>
          <a:xfrm>
            <a:off x="4817806" y="4809550"/>
            <a:ext cx="268420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Final Model Configuration:</a:t>
            </a:r>
          </a:p>
          <a:p>
            <a:r>
              <a:rPr lang="en-IN" dirty="0"/>
              <a:t>- K=9 (optimal value)</a:t>
            </a:r>
          </a:p>
          <a:p>
            <a:r>
              <a:rPr lang="en-IN" dirty="0"/>
              <a:t>- Training Accuracy: 83.43%</a:t>
            </a:r>
          </a:p>
          <a:p>
            <a:r>
              <a:rPr lang="en-IN" dirty="0"/>
              <a:t>- Test Accuracy: 83.78%</a:t>
            </a:r>
          </a:p>
          <a:p>
            <a:r>
              <a:rPr lang="en-IN" dirty="0"/>
              <a:t>- F1 Score: 0.9115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0232" y="1864500"/>
            <a:ext cx="4153453" cy="31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9"/>
          <p:cNvPicPr preferRelativeResize="0">
            <a:picLocks noGrp="1"/>
          </p:cNvPicPr>
          <p:nvPr>
            <p:ph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848342" y="1864500"/>
            <a:ext cx="5938200" cy="31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BC7DBF-31F5-DC71-D83A-7F851E7FA903}"/>
              </a:ext>
            </a:extLst>
          </p:cNvPr>
          <p:cNvSpPr txBox="1"/>
          <p:nvPr/>
        </p:nvSpPr>
        <p:spPr>
          <a:xfrm>
            <a:off x="3401961" y="1057338"/>
            <a:ext cx="6115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MODEL: TUNING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11636-6946-FCAD-1EDD-54BB6B229F11}"/>
              </a:ext>
            </a:extLst>
          </p:cNvPr>
          <p:cNvSpPr txBox="1"/>
          <p:nvPr/>
        </p:nvSpPr>
        <p:spPr>
          <a:xfrm>
            <a:off x="3401961" y="4993500"/>
            <a:ext cx="61156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Tuning Impact:</a:t>
            </a:r>
          </a:p>
          <a:p>
            <a:r>
              <a:rPr lang="en-IN" dirty="0"/>
              <a:t>- Original vs Tuned: Similar test accuracy (~83%)</a:t>
            </a:r>
          </a:p>
          <a:p>
            <a:r>
              <a:rPr lang="en-IN" dirty="0"/>
              <a:t>- Both models excel at popular song detection (&gt;98% recall)</a:t>
            </a:r>
          </a:p>
          <a:p>
            <a:r>
              <a:rPr lang="en-IN" dirty="0"/>
              <a:t>- Tuned model shows potential overfitting (100% train accuracy)</a:t>
            </a:r>
          </a:p>
          <a:p>
            <a:r>
              <a:rPr lang="en-IN" dirty="0"/>
              <a:t>- Original model preferred for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ABDD-3689-4557-B4F6-0A494F77D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61" y="2569717"/>
            <a:ext cx="10058400" cy="989561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36912110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41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30871" y="3713441"/>
            <a:ext cx="4734003" cy="2182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39275" y="1648390"/>
            <a:ext cx="7913450" cy="191826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861246-CFB4-022F-5204-9BB96F3BDCDF}"/>
              </a:ext>
            </a:extLst>
          </p:cNvPr>
          <p:cNvSpPr txBox="1"/>
          <p:nvPr/>
        </p:nvSpPr>
        <p:spPr>
          <a:xfrm>
            <a:off x="2876832" y="642827"/>
            <a:ext cx="66407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for Spotify Song Popularity Prediction: KNN, Decision Tree, and Logistic Regression Analysis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1E69E-6044-E2C1-D424-74B5664817D0}"/>
              </a:ext>
            </a:extLst>
          </p:cNvPr>
          <p:cNvSpPr txBox="1"/>
          <p:nvPr/>
        </p:nvSpPr>
        <p:spPr>
          <a:xfrm>
            <a:off x="5902550" y="3650580"/>
            <a:ext cx="55847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Comparison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Decision Tree shows high training accuracy (95.43%) but suffers from overfitting with lower test accuracy (75.33%)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KNN demonstrates best overall performance with 83.78% test accuracy and outstanding recall (99.47%)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Logistic Regression achieves balanced metrics (83.47% test accuracy) comparable to KNN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Model-Specific Strengths: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Decision Tree: Provides clear interpretability of decisions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KNN: Excels in identifying popular songs with high accuracy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Logistic Regression: Delivers consistent, stable predictions across features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2"/>
          <p:cNvSpPr txBox="1"/>
          <p:nvPr/>
        </p:nvSpPr>
        <p:spPr>
          <a:xfrm>
            <a:off x="4834325" y="1349125"/>
            <a:ext cx="5886900" cy="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451677-F27F-8F6C-5B5E-6905692D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10129682" cy="1303867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OPTIMAL MODEL SELECTION: KNN FOR SPOTIFY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F9CBA-2AF0-FC89-2431-693660D6D0DA}"/>
              </a:ext>
            </a:extLst>
          </p:cNvPr>
          <p:cNvSpPr txBox="1"/>
          <p:nvPr/>
        </p:nvSpPr>
        <p:spPr>
          <a:xfrm>
            <a:off x="1155291" y="2969775"/>
            <a:ext cx="26153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Selection Criteria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Superior Performance Metrics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- 83.78% holdout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- 83.05% cross-validation accuracy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- 99.47% recall rate for popular songs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0935A-2126-8763-21D9-BF6495AF5606}"/>
              </a:ext>
            </a:extLst>
          </p:cNvPr>
          <p:cNvSpPr txBox="1"/>
          <p:nvPr/>
        </p:nvSpPr>
        <p:spPr>
          <a:xfrm>
            <a:off x="8101781" y="2882357"/>
            <a:ext cx="3687096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KNN model effectively analyzes song features (vocals, length, energy) to predict popularity, enabling: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Enhanced playlist recommendations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Early trend identification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Improved user engagement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Strategic content promotion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967FC8-FFCA-798C-8E6E-6761F29E62A3}"/>
              </a:ext>
            </a:extLst>
          </p:cNvPr>
          <p:cNvSpPr txBox="1"/>
          <p:nvPr/>
        </p:nvSpPr>
        <p:spPr>
          <a:xfrm>
            <a:off x="1543665" y="5607597"/>
            <a:ext cx="69858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While the model may occasionally overestimate popularity, its high recall rate makes it preferable for identifying potential hits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86412-28EE-2F44-8B93-D3C5F5807CE6}"/>
              </a:ext>
            </a:extLst>
          </p:cNvPr>
          <p:cNvSpPr txBox="1"/>
          <p:nvPr/>
        </p:nvSpPr>
        <p:spPr>
          <a:xfrm>
            <a:off x="4395021" y="2990079"/>
            <a:ext cx="300867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Benefits: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Highly accurate for songs with popularity score &gt;50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Reliable recommendation system foundation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Consistent cross-scenario performance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A660-7E1B-698C-50DC-76081354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159114"/>
            <a:ext cx="9601196" cy="551699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Profit Maximization (Q2)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E223-CE32-E11C-1AFB-13A13BEB6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77" y="2645962"/>
            <a:ext cx="3492909" cy="3194399"/>
          </a:xfrm>
        </p:spPr>
        <p:txBody>
          <a:bodyPr>
            <a:no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Cost Structure: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True Positive (Popular Song Correctly Identified): +$1,000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False Positive (Incorrect Popular Prediction): -$500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False Negative (Missed Popular Song): -$1,200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True Negative (Correct Non-Popular): $0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1E491-3255-3C6D-00F5-7301F28BE737}"/>
              </a:ext>
            </a:extLst>
          </p:cNvPr>
          <p:cNvSpPr txBox="1"/>
          <p:nvPr/>
        </p:nvSpPr>
        <p:spPr>
          <a:xfrm>
            <a:off x="5058696" y="2625755"/>
            <a:ext cx="27038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Findings: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Monetary impact varies significantly across prediction types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Missing popular songs (False Negatives) is most costly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Model selection needs to balance accuracy with financial outcomes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66A1B-A4A6-94E7-9AA3-5C80CB714984}"/>
              </a:ext>
            </a:extLst>
          </p:cNvPr>
          <p:cNvSpPr txBox="1"/>
          <p:nvPr/>
        </p:nvSpPr>
        <p:spPr>
          <a:xfrm>
            <a:off x="8436077" y="2625755"/>
            <a:ext cx="301850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Areas: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Minimize costly false negatives (-$1,200 per instance)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Maximize valuable true positives (+$1,000 per instance)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Balance false positive costs (-$500 per instance)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1AF05E-7F18-7C4C-C2DD-09D486AA5F53}"/>
              </a:ext>
            </a:extLst>
          </p:cNvPr>
          <p:cNvSpPr txBox="1"/>
          <p:nvPr/>
        </p:nvSpPr>
        <p:spPr>
          <a:xfrm>
            <a:off x="3126658" y="2009110"/>
            <a:ext cx="6115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Objective: Optimize model selection based on financial impact</a:t>
            </a:r>
          </a:p>
        </p:txBody>
      </p:sp>
    </p:spTree>
    <p:extLst>
      <p:ext uri="{BB962C8B-B14F-4D97-AF65-F5344CB8AC3E}">
        <p14:creationId xmlns:p14="http://schemas.microsoft.com/office/powerpoint/2010/main" val="3192312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 txBox="1">
            <a:spLocks noGrp="1"/>
          </p:cNvSpPr>
          <p:nvPr>
            <p:ph type="title"/>
          </p:nvPr>
        </p:nvSpPr>
        <p:spPr>
          <a:xfrm>
            <a:off x="1184787" y="706790"/>
            <a:ext cx="10058400" cy="86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eo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and Cost Metrics in Model Evaluation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3" name="Google Shape;413;p44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184787" y="2093604"/>
            <a:ext cx="4166388" cy="3849687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4"/>
          <p:cNvSpPr txBox="1"/>
          <p:nvPr/>
        </p:nvSpPr>
        <p:spPr>
          <a:xfrm>
            <a:off x="6096000" y="2464197"/>
            <a:ext cx="505378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Cost Structure: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Revenue Generation: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Correct popular predictions earn $1,000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Successful identification crucial for profitability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Cost Management: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False popular predictions cost $500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Missed popular songs cost $1,200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Accurate non-popular predictions have no cost impact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Implications: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Accuracy alone doesn't reflect financial performance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Higher penalty for missing popular songs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Strategic importance of reducing false negatives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"/>
          <p:cNvSpPr txBox="1">
            <a:spLocks noGrp="1"/>
          </p:cNvSpPr>
          <p:nvPr>
            <p:ph type="title"/>
          </p:nvPr>
        </p:nvSpPr>
        <p:spPr>
          <a:xfrm>
            <a:off x="1469922" y="496365"/>
            <a:ext cx="10058400" cy="123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Geo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Profit-Based Model Selection 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1" name="Google Shape;421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2700" y="2090402"/>
            <a:ext cx="5654873" cy="3877777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5"/>
          <p:cNvSpPr txBox="1"/>
          <p:nvPr/>
        </p:nvSpPr>
        <p:spPr>
          <a:xfrm>
            <a:off x="6861592" y="2507848"/>
            <a:ext cx="4487708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Profit Performance: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Decision Tree: $312,400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Lower profit due to high false negative rate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KNN: $338,100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Highest profit through balanced predictions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Logistic Regression: $336,500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Strong performance with consistent results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Calculation Method: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= (1000 × True Positives) - (500 × False Positives) - (1200 × False Negatives)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KNN achieves highest profit by minimizing costly false negatives while maintaining strong true positive rate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46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314451" y="1190507"/>
            <a:ext cx="9563100" cy="317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6"/>
          <p:cNvSpPr txBox="1"/>
          <p:nvPr/>
        </p:nvSpPr>
        <p:spPr>
          <a:xfrm>
            <a:off x="629263" y="4334366"/>
            <a:ext cx="5309400" cy="183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Selected in Q1 (Accuracy-Based):</a:t>
            </a:r>
            <a:endParaRPr sz="105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5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sz="105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5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highest test accuracy (83.78%) and cross-validation accuracy (83.05%).</a:t>
            </a:r>
            <a:endParaRPr sz="105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5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strength: High recall for identifying popular songs.</a:t>
            </a:r>
            <a:endParaRPr sz="105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Selected in Q2 (Profit-Based):</a:t>
            </a:r>
            <a:endParaRPr sz="105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5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  <a:endParaRPr sz="105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5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Maximized the profit when evaluated on Spotify's cost/revenue structure.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ea typeface="Geo"/>
              <a:cs typeface="Times New Roman" panose="02020603050405020304" pitchFamily="18" charset="0"/>
              <a:sym typeface="Geo"/>
            </a:endParaRPr>
          </a:p>
        </p:txBody>
      </p:sp>
      <p:sp>
        <p:nvSpPr>
          <p:cNvPr id="429" name="Google Shape;429;p46"/>
          <p:cNvSpPr txBox="1"/>
          <p:nvPr/>
        </p:nvSpPr>
        <p:spPr>
          <a:xfrm>
            <a:off x="5938686" y="4379079"/>
            <a:ext cx="5624051" cy="176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Trade-Offs Observed:</a:t>
            </a:r>
            <a:endParaRPr sz="1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Interpretability</a:t>
            </a:r>
            <a:r>
              <a:rPr lang="en-US" sz="1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KNN is less interpretable than Decision Trees but offers better performance.</a:t>
            </a:r>
            <a:endParaRPr sz="1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vs. Profit Consistency</a:t>
            </a:r>
            <a:r>
              <a:rPr lang="en-US" sz="1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KNN consistently performed well under both criteria, showing its robustness for Spotify's use case.</a:t>
            </a:r>
            <a:endParaRPr sz="1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sz="10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KNN is a reliable model for Spotify, balancing prediction accuracy and financial profitability.</a:t>
            </a:r>
            <a:endParaRPr sz="1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Both Q1 and Q2 validate KNN as the most suitable model for the recommendation system.</a:t>
            </a:r>
            <a:endParaRPr sz="1100" b="1" dirty="0">
              <a:solidFill>
                <a:schemeClr val="dk1"/>
              </a:solidFill>
              <a:latin typeface="Times New Roman" panose="02020603050405020304" pitchFamily="18" charset="0"/>
              <a:ea typeface="Geo"/>
              <a:cs typeface="Times New Roman" panose="02020603050405020304" pitchFamily="18" charset="0"/>
              <a:sym typeface="Geo"/>
            </a:endParaRPr>
          </a:p>
        </p:txBody>
      </p:sp>
      <p:sp>
        <p:nvSpPr>
          <p:cNvPr id="430" name="Google Shape;430;p46"/>
          <p:cNvSpPr txBox="1"/>
          <p:nvPr/>
        </p:nvSpPr>
        <p:spPr>
          <a:xfrm>
            <a:off x="3540938" y="558384"/>
            <a:ext cx="597668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VS. PROFIT TRADE-OFFS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7"/>
          <p:cNvSpPr txBox="1">
            <a:spLocks noGrp="1"/>
          </p:cNvSpPr>
          <p:nvPr>
            <p:ph type="title"/>
          </p:nvPr>
        </p:nvSpPr>
        <p:spPr>
          <a:xfrm>
            <a:off x="154198" y="513494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SPOTIFY</a:t>
            </a:r>
          </a:p>
        </p:txBody>
      </p:sp>
      <p:sp>
        <p:nvSpPr>
          <p:cNvPr id="436" name="Google Shape;436;p47"/>
          <p:cNvSpPr txBox="1">
            <a:spLocks noGrp="1"/>
          </p:cNvSpPr>
          <p:nvPr>
            <p:ph type="body" idx="1"/>
          </p:nvPr>
        </p:nvSpPr>
        <p:spPr>
          <a:xfrm>
            <a:off x="1064579" y="1276994"/>
            <a:ext cx="4657795" cy="50675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Implementation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Adopt KNN model for song recommendation system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Focus on minimizing false negatives to maximize profit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Regular model recalibration based on market dynamics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Enhancement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Fine-tune KNN parameters for optimal performance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Implement feature engineering for improved accuracy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Adjust thresholds based on cost-benefit analysis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Improved ROI on song promotion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Enhanced user experience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Better prediction of potential hits</a:t>
            </a: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Reduced costs from prediction errors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37" name="Google Shape;437;p47" descr="How to use spotify to create a playlist | ( function() { if … | Flickr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676" y="2235305"/>
            <a:ext cx="4465976" cy="29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DEDD00-5E71-418B-9C3C-9B71B018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8AA894-60A7-4A09-919E-54EF7C3E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680684-9D82-4E2B-9E9A-778390DA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8899EB-8201-46DC-A208-67136E6BA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8681DBB-DB5A-40DF-8333-C7E1C945B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2D441-F1A4-C391-6EAA-0E730CD18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3: Feature Insights and Clustering (Q3)</a:t>
            </a:r>
            <a:br>
              <a:rPr lang="en-US" sz="370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700">
              <a:solidFill>
                <a:srgbClr val="262626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2521EE-7A0B-277D-AAFE-541E8D91B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124475"/>
              </p:ext>
            </p:extLst>
          </p:nvPr>
        </p:nvGraphicFramePr>
        <p:xfrm>
          <a:off x="1295402" y="2378595"/>
          <a:ext cx="9601197" cy="2985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0703480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D6E3-8FA4-680F-4A38-A3FBAF9F2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283" y="669374"/>
            <a:ext cx="9601196" cy="1303867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K-MEANS CLUSTERING ANALYSIS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F5ACA-2554-7A39-13C1-CE33E9796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079" y="2693218"/>
            <a:ext cx="3234812" cy="289997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Energy &amp; Dance Cluster (44.67%):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Danceability: 0.76 | Energy: 0.77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670 songs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Profile: Upbeat, engaging tracks ideal for active playlists 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Strategy: Target workout and party playlist recommendations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F16CCB-118F-8B3A-EEC0-041FC2A457BC}"/>
              </a:ext>
            </a:extLst>
          </p:cNvPr>
          <p:cNvSpPr txBox="1"/>
          <p:nvPr/>
        </p:nvSpPr>
        <p:spPr>
          <a:xfrm>
            <a:off x="4251226" y="2450451"/>
            <a:ext cx="323481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Balanced Cluster (21.40%):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Danceability: 0.64 | Energy: 0.52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321 songs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Profile: Moderate energy tracks for casual listening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Strategy: Recommend for daily routine playlists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8DC84-445B-D45B-116E-8CCF9A6C2036}"/>
              </a:ext>
            </a:extLst>
          </p:cNvPr>
          <p:cNvSpPr txBox="1"/>
          <p:nvPr/>
        </p:nvSpPr>
        <p:spPr>
          <a:xfrm>
            <a:off x="4165189" y="4497938"/>
            <a:ext cx="369938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High Energy/Low Dance Cluster (33.93%):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Danceability: 0.53 | Energy: 0.83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509 songs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Profile: Unique energy-dance combination suggesting niche appeal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Strategy: Target specialized playlist recommendations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1BB962-4022-EBB5-7166-74E1F3C93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909" y="2069410"/>
            <a:ext cx="3234812" cy="39629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B31482-E17C-8E98-951C-924FD537E9B1}"/>
              </a:ext>
            </a:extLst>
          </p:cNvPr>
          <p:cNvSpPr txBox="1"/>
          <p:nvPr/>
        </p:nvSpPr>
        <p:spPr>
          <a:xfrm>
            <a:off x="1295402" y="2045668"/>
            <a:ext cx="7167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Key Insight: Silhouette score peaks at k=3, indicating optimal cluster separation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12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FE08-60D2-CF6D-F278-3857354B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102" y="1234703"/>
            <a:ext cx="6407189" cy="60086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CLUSTERING RESULTS</a:t>
            </a:r>
          </a:p>
        </p:txBody>
      </p:sp>
      <p:pic>
        <p:nvPicPr>
          <p:cNvPr id="4" name="Google Shape;462;p50">
            <a:extLst>
              <a:ext uri="{FF2B5EF4-FFF2-40B4-BE49-F238E27FC236}">
                <a16:creationId xmlns:a16="http://schemas.microsoft.com/office/drawing/2014/main" id="{831830E3-EF01-E7D6-3FAA-6AE3DAB70E3E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965926" y="1234703"/>
            <a:ext cx="3688176" cy="2126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463;p50">
            <a:extLst>
              <a:ext uri="{FF2B5EF4-FFF2-40B4-BE49-F238E27FC236}">
                <a16:creationId xmlns:a16="http://schemas.microsoft.com/office/drawing/2014/main" id="{AEE4AB1C-72C7-C65C-0CD8-E45071A1FF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664" y="3686533"/>
            <a:ext cx="3688175" cy="229000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61C5BD-83A6-406D-B3B9-9D4A5A918BBC}"/>
              </a:ext>
            </a:extLst>
          </p:cNvPr>
          <p:cNvSpPr txBox="1"/>
          <p:nvPr/>
        </p:nvSpPr>
        <p:spPr>
          <a:xfrm>
            <a:off x="5879692" y="2453850"/>
            <a:ext cx="56746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Main Cluster (98.67%): </a:t>
            </a:r>
          </a:p>
          <a:p>
            <a:pPr marL="285750" indent="-285750">
              <a:buFontTx/>
              <a:buChar char="-"/>
            </a:pPr>
            <a:r>
              <a:rPr lang="en-IN" dirty="0"/>
              <a:t>Average Danceability: 0.66 | Energy: 0.74 </a:t>
            </a:r>
          </a:p>
          <a:p>
            <a:pPr marL="285750" indent="-285750">
              <a:buFontTx/>
              <a:buChar char="-"/>
            </a:pPr>
            <a:r>
              <a:rPr lang="en-IN" dirty="0"/>
              <a:t>1,480 songs representing mainstream patterns </a:t>
            </a:r>
          </a:p>
          <a:p>
            <a:pPr marL="285750" indent="-285750">
              <a:buFontTx/>
              <a:buChar char="-"/>
            </a:pPr>
            <a:r>
              <a:rPr lang="en-IN" dirty="0"/>
              <a:t>Recommendation Strategy: Base playlist algorithms on these typical patterns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59962-E586-CAED-ADCC-914A1958E09F}"/>
              </a:ext>
            </a:extLst>
          </p:cNvPr>
          <p:cNvSpPr txBox="1"/>
          <p:nvPr/>
        </p:nvSpPr>
        <p:spPr>
          <a:xfrm>
            <a:off x="5879692" y="3695801"/>
            <a:ext cx="61156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Outlier Group (1.33%): </a:t>
            </a:r>
          </a:p>
          <a:p>
            <a:r>
              <a:rPr lang="en-US" dirty="0"/>
              <a:t>-     Danceability: 0.33 | Energy: 0.39 </a:t>
            </a:r>
          </a:p>
          <a:p>
            <a:pPr marL="285750" indent="-285750">
              <a:buFontTx/>
              <a:buChar char="-"/>
            </a:pPr>
            <a:r>
              <a:rPr lang="en-US" dirty="0"/>
              <a:t>20 songs with distinct characteristics </a:t>
            </a:r>
          </a:p>
          <a:p>
            <a:pPr marL="285750" indent="-285750">
              <a:buFontTx/>
              <a:buChar char="-"/>
            </a:pPr>
            <a:r>
              <a:rPr lang="en-US" dirty="0"/>
              <a:t>Key Finding: These tracks represent unique combinations that could serve specialized playlists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B79E3-5421-0E3F-C41D-F6B32EE527E8}"/>
              </a:ext>
            </a:extLst>
          </p:cNvPr>
          <p:cNvSpPr txBox="1"/>
          <p:nvPr/>
        </p:nvSpPr>
        <p:spPr>
          <a:xfrm>
            <a:off x="5879692" y="5022435"/>
            <a:ext cx="61156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Insights for Playlist Optimization: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 main cluster patterns for general recommendations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Leverage outliers for diversity in specialized playlists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Consider emotional valence when matching songs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279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1708EBE-8F1C-4F88-9893-363C6C692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008F04-25AC-4851-913F-8E3AE20B17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EFFDCD6-F7ED-482D-907C-CD48B9B1D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5765067-14FA-421E-B823-BC9850AB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05C27D4-E19A-481A-BB00-A276CC012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3A9933D-84D7-4A15-B34D-2D7B08120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D03D7A-BE5A-48C1-8E17-93713071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858" y="982132"/>
            <a:ext cx="4842190" cy="17748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700">
                <a:latin typeface="Times New Roman" panose="02020603050405020304" pitchFamily="18" charset="0"/>
                <a:cs typeface="Times New Roman" panose="02020603050405020304" pitchFamily="18" charset="0"/>
              </a:rPr>
              <a:t>METHOD 3: AGGLOMERATIVE CLUSTERING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4C3C3E8-6B5D-49DA-997A-3582B89CD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46233" y="2838638"/>
            <a:ext cx="4663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Google Shape;476;p51">
            <a:extLst>
              <a:ext uri="{FF2B5EF4-FFF2-40B4-BE49-F238E27FC236}">
                <a16:creationId xmlns:a16="http://schemas.microsoft.com/office/drawing/2014/main" id="{DC2AC449-03C8-620F-63E4-1FB6365D1FF5}"/>
              </a:ext>
            </a:extLst>
          </p:cNvPr>
          <p:cNvPicPr preferRelativeResize="0"/>
          <p:nvPr/>
        </p:nvPicPr>
        <p:blipFill rotWithShape="1">
          <a:blip r:embed="rId5"/>
          <a:stretch/>
        </p:blipFill>
        <p:spPr>
          <a:xfrm>
            <a:off x="921066" y="3066418"/>
            <a:ext cx="2347545" cy="2955531"/>
          </a:xfrm>
          <a:prstGeom prst="rect">
            <a:avLst/>
          </a:prstGeom>
          <a:noFill/>
          <a:ln w="57150" cmpd="thickThin">
            <a:noFill/>
            <a:miter lim="800000"/>
          </a:ln>
        </p:spPr>
      </p:pic>
      <p:pic>
        <p:nvPicPr>
          <p:cNvPr id="5" name="Google Shape;477;p51">
            <a:extLst>
              <a:ext uri="{FF2B5EF4-FFF2-40B4-BE49-F238E27FC236}">
                <a16:creationId xmlns:a16="http://schemas.microsoft.com/office/drawing/2014/main" id="{E8078759-EDB3-64D9-5437-2940C0AA1CB0}"/>
              </a:ext>
            </a:extLst>
          </p:cNvPr>
          <p:cNvPicPr preferRelativeResize="0"/>
          <p:nvPr/>
        </p:nvPicPr>
        <p:blipFill rotWithShape="1">
          <a:blip r:embed="rId6"/>
          <a:stretch/>
        </p:blipFill>
        <p:spPr>
          <a:xfrm>
            <a:off x="3572617" y="3066418"/>
            <a:ext cx="3031289" cy="2592694"/>
          </a:xfrm>
          <a:prstGeom prst="rect">
            <a:avLst/>
          </a:prstGeom>
          <a:noFill/>
          <a:ln w="57150" cmpd="thickThin">
            <a:noFill/>
            <a:miter lim="800000"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FBDF-43E5-C311-0BBF-CE4CB7130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33" y="1158023"/>
            <a:ext cx="4528947" cy="46963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Hierarchical Clustering Analysis: Cluster Distribution: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Primary Cluster (75%):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• High energy (0.82) &amp; danceability (0.71)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• Strong correlation with popularity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• Best for mainstream playlists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2. Secondary Clusters: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• Niche groups with distinct energy-dance combinations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• Varied emotional patterns (valence)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• Targeted for specific mood-based playlists </a:t>
            </a:r>
          </a:p>
          <a:p>
            <a:pPr marL="0" indent="0">
              <a:lnSpc>
                <a:spcPct val="90000"/>
              </a:lnSpc>
              <a:buNone/>
            </a:pPr>
            <a:endParaRPr lang="en-IN" sz="1500" dirty="0"/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Silhouette Analysis: - Optimal clustering at 3-4 groups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- Clear separation of music styles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dirty="0"/>
              <a:t>- Strong basis for playlist categorization</a:t>
            </a:r>
          </a:p>
        </p:txBody>
      </p:sp>
    </p:spTree>
    <p:extLst>
      <p:ext uri="{BB962C8B-B14F-4D97-AF65-F5344CB8AC3E}">
        <p14:creationId xmlns:p14="http://schemas.microsoft.com/office/powerpoint/2010/main" val="2557402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 CLUSTERING RESULTS: ENERGY &amp; DANCEABILITY PATTERNS</a:t>
            </a:r>
          </a:p>
        </p:txBody>
      </p:sp>
      <p:pic>
        <p:nvPicPr>
          <p:cNvPr id="489" name="Google Shape;489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917" y="2526086"/>
            <a:ext cx="5791200" cy="323561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F3EF6F-01B6-7976-58A3-3076FDB152A2}"/>
              </a:ext>
            </a:extLst>
          </p:cNvPr>
          <p:cNvSpPr txBox="1"/>
          <p:nvPr/>
        </p:nvSpPr>
        <p:spPr>
          <a:xfrm>
            <a:off x="6902245" y="2386403"/>
            <a:ext cx="346095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Popularity Patterns: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Higher popularity (mean ~61) in clusters with: 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energy (&gt;0.80) + high danceability (&gt;0.70) </a:t>
            </a:r>
          </a:p>
          <a:p>
            <a:pPr marL="285750" indent="-285750">
              <a:buFontTx/>
              <a:buChar char="-"/>
            </a:pPr>
            <a:r>
              <a:rPr lang="en-US" dirty="0"/>
              <a:t>Balanced valence (0.45-0.72)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34964-8681-1842-0286-BCBDC699ACDE}"/>
              </a:ext>
            </a:extLst>
          </p:cNvPr>
          <p:cNvSpPr txBox="1"/>
          <p:nvPr/>
        </p:nvSpPr>
        <p:spPr>
          <a:xfrm>
            <a:off x="6902245" y="3871802"/>
            <a:ext cx="31758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 Combinations: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Most Popular Pattern: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Energy: 0.85 ± 0.06 </a:t>
            </a:r>
          </a:p>
          <a:p>
            <a:pPr marL="285750" indent="-285750">
              <a:buFontTx/>
              <a:buChar char="-"/>
            </a:pPr>
            <a:r>
              <a:rPr lang="en-US" dirty="0"/>
              <a:t>Danceability: 0.76 ± 0.05 </a:t>
            </a:r>
          </a:p>
          <a:p>
            <a:pPr marL="285750" indent="-285750">
              <a:buFontTx/>
              <a:buChar char="-"/>
            </a:pPr>
            <a:r>
              <a:rPr lang="en-US" dirty="0"/>
              <a:t>Valence: 0.72 ± 0.18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2B7513-1305-DE3D-5DCA-331B667E7E2B}"/>
              </a:ext>
            </a:extLst>
          </p:cNvPr>
          <p:cNvSpPr txBox="1"/>
          <p:nvPr/>
        </p:nvSpPr>
        <p:spPr>
          <a:xfrm>
            <a:off x="6558117" y="5210583"/>
            <a:ext cx="61156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Recommendation Strategy: </a:t>
            </a:r>
          </a:p>
          <a:p>
            <a:pPr marL="285750" indent="-285750">
              <a:buFontTx/>
              <a:buChar char="-"/>
            </a:pPr>
            <a:r>
              <a:rPr lang="en-US" dirty="0"/>
              <a:t>Prioritize songs matching successful feature patterns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Consider emotional context (valence) in recommendations </a:t>
            </a:r>
          </a:p>
          <a:p>
            <a:pPr marL="285750" indent="-285750">
              <a:buFontTx/>
              <a:buChar char="-"/>
            </a:pPr>
            <a:r>
              <a:rPr lang="en-US" dirty="0"/>
              <a:t>Balance energy and danceability based on target audience</a:t>
            </a:r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3"/>
          <p:cNvSpPr txBox="1">
            <a:spLocks noGrp="1"/>
          </p:cNvSpPr>
          <p:nvPr>
            <p:ph type="title"/>
          </p:nvPr>
        </p:nvSpPr>
        <p:spPr>
          <a:xfrm>
            <a:off x="1411793" y="812661"/>
            <a:ext cx="10058400" cy="2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VALANCE IMPACT ANALYSIS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95" name="Google Shape;495;p53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19315" y="4621161"/>
            <a:ext cx="10058400" cy="1596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5393" y="1630376"/>
            <a:ext cx="8721213" cy="2990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4"/>
          <p:cNvSpPr txBox="1">
            <a:spLocks noGrp="1"/>
          </p:cNvSpPr>
          <p:nvPr>
            <p:ph type="title"/>
          </p:nvPr>
        </p:nvSpPr>
        <p:spPr>
          <a:xfrm>
            <a:off x="5879691" y="1209287"/>
            <a:ext cx="5427406" cy="988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</a:t>
            </a:r>
          </a:p>
        </p:txBody>
      </p:sp>
      <p:pic>
        <p:nvPicPr>
          <p:cNvPr id="502" name="Google Shape;502;p54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84903" y="1139878"/>
            <a:ext cx="4758813" cy="259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4903" y="3981398"/>
            <a:ext cx="4837471" cy="21729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5C5AA1-E55D-F38F-E7FA-3B110969E82B}"/>
              </a:ext>
            </a:extLst>
          </p:cNvPr>
          <p:cNvSpPr txBox="1"/>
          <p:nvPr/>
        </p:nvSpPr>
        <p:spPr>
          <a:xfrm>
            <a:off x="5879691" y="2603674"/>
            <a:ext cx="542740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Feature Frequency: </a:t>
            </a:r>
          </a:p>
          <a:p>
            <a:pPr marL="285750" indent="-285750">
              <a:buFontTx/>
              <a:buChar char="-"/>
            </a:pPr>
            <a:r>
              <a:rPr lang="en-US" dirty="0"/>
              <a:t>Low Popularity: Most common (1097 songs, 73%) 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Danceability/Energy/Valence: Balanced (≈750 songs, 50%) 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Popularity: Less frequent (403 songs, 27%) </a:t>
            </a:r>
          </a:p>
          <a:p>
            <a:endParaRPr lang="en-US" dirty="0"/>
          </a:p>
          <a:p>
            <a:r>
              <a:rPr lang="en-US" dirty="0"/>
              <a:t>Key Patterns: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Equal distribution of high/low feature values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Strong balance between energy and danceability </a:t>
            </a:r>
          </a:p>
          <a:p>
            <a:pPr marL="285750" indent="-285750">
              <a:buFontTx/>
              <a:buChar char="-"/>
            </a:pPr>
            <a:r>
              <a:rPr lang="en-US" dirty="0"/>
              <a:t>Clear popularity segmentation </a:t>
            </a:r>
          </a:p>
          <a:p>
            <a:endParaRPr lang="en-US" dirty="0"/>
          </a:p>
          <a:p>
            <a:r>
              <a:rPr lang="en-US" dirty="0"/>
              <a:t>Pattern Implications: </a:t>
            </a:r>
          </a:p>
          <a:p>
            <a:pPr marL="285750" indent="-285750">
              <a:buFontTx/>
              <a:buChar char="-"/>
            </a:pPr>
            <a:r>
              <a:rPr lang="en-US" dirty="0"/>
              <a:t>Feature combinations crucial for popularity </a:t>
            </a:r>
          </a:p>
          <a:p>
            <a:pPr marL="285750" indent="-285750">
              <a:buFontTx/>
              <a:buChar char="-"/>
            </a:pPr>
            <a:r>
              <a:rPr lang="en-US" dirty="0"/>
              <a:t>Balanced distribution suggests natural groupings </a:t>
            </a:r>
          </a:p>
          <a:p>
            <a:pPr marL="285750" indent="-285750">
              <a:buFontTx/>
              <a:buChar char="-"/>
            </a:pPr>
            <a:r>
              <a:rPr lang="en-US" dirty="0"/>
              <a:t>High popularity threshold identifies top performers</a:t>
            </a:r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5"/>
          <p:cNvSpPr txBox="1">
            <a:spLocks noGrp="1"/>
          </p:cNvSpPr>
          <p:nvPr>
            <p:ph type="title"/>
          </p:nvPr>
        </p:nvSpPr>
        <p:spPr>
          <a:xfrm>
            <a:off x="2064773" y="1116955"/>
            <a:ext cx="8593393" cy="795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eo"/>
              <a:buNone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CLUSTER-BASED RECOMMENDATIONS</a:t>
            </a:r>
          </a:p>
        </p:txBody>
      </p:sp>
      <p:pic>
        <p:nvPicPr>
          <p:cNvPr id="510" name="Google Shape;510;p55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947538" y="2557382"/>
            <a:ext cx="5561417" cy="34274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1F248-1B4D-E7B8-126E-8B1D70BDA201}"/>
              </a:ext>
            </a:extLst>
          </p:cNvPr>
          <p:cNvSpPr txBox="1"/>
          <p:nvPr/>
        </p:nvSpPr>
        <p:spPr>
          <a:xfrm>
            <a:off x="6685936" y="2501395"/>
            <a:ext cx="46801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Sample Recommendations (Cluster 0.0): </a:t>
            </a:r>
          </a:p>
          <a:p>
            <a:endParaRPr lang="en-US" dirty="0"/>
          </a:p>
          <a:p>
            <a:r>
              <a:rPr lang="en-US" dirty="0"/>
              <a:t>Top Matched Songs: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"Without Me" (87% popularity) </a:t>
            </a:r>
          </a:p>
          <a:p>
            <a:r>
              <a:rPr lang="en-US" dirty="0"/>
              <a:t> High danceability (0.91) </a:t>
            </a:r>
          </a:p>
          <a:p>
            <a:r>
              <a:rPr lang="en-US" dirty="0"/>
              <a:t>Balanced energy (0.67) 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"The Real Slim Shady" (86% popularity) </a:t>
            </a:r>
          </a:p>
          <a:p>
            <a:r>
              <a:rPr lang="en-US" dirty="0"/>
              <a:t>Very high danceability (0.95) </a:t>
            </a:r>
          </a:p>
          <a:p>
            <a:r>
              <a:rPr lang="en-US" dirty="0"/>
              <a:t>Moderate energy (0.66)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 Features: </a:t>
            </a:r>
          </a:p>
          <a:p>
            <a:r>
              <a:rPr lang="en-US" dirty="0"/>
              <a:t>Danceability: 0.79-0.95 </a:t>
            </a:r>
          </a:p>
          <a:p>
            <a:r>
              <a:rPr lang="en-US" dirty="0"/>
              <a:t>Energy: 0.65-0.79 </a:t>
            </a:r>
          </a:p>
          <a:p>
            <a:r>
              <a:rPr lang="en-US" dirty="0"/>
              <a:t>Valence: 0.58-0.77 </a:t>
            </a:r>
          </a:p>
          <a:p>
            <a:r>
              <a:rPr lang="en-US" dirty="0"/>
              <a:t>Popularity: 81-87%</a:t>
            </a:r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42A05-A908-B89E-CAFC-A39759B0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787674"/>
          </a:xfrm>
        </p:spPr>
        <p:txBody>
          <a:bodyPr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ANALYSIS-BASED IMPLEMENTATION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23B85-D670-A5AD-C613-982399615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277" y="3796278"/>
            <a:ext cx="3315928" cy="17790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 &amp; Application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KNN model for primary recommendation system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Focus on minimizing costly prediction errors ($1,200 for missed hits)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model recalibration to maintain accuracy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3134F-DC7C-8EC4-F85D-AA0C2E9D1D35}"/>
              </a:ext>
            </a:extLst>
          </p:cNvPr>
          <p:cNvSpPr txBox="1"/>
          <p:nvPr/>
        </p:nvSpPr>
        <p:spPr>
          <a:xfrm>
            <a:off x="4788310" y="3796278"/>
            <a:ext cx="30774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Feature-Based Playlist Optimization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High Energy &amp; Dance Songs (44.7%): Target active/workout playlists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Moderate Energy Songs (21.4%): Feature in daily listening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Unique Combinations (1.3%): Reserve for specialized playlists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8E505-4AB2-8834-0D4D-14D39FB492AE}"/>
              </a:ext>
            </a:extLst>
          </p:cNvPr>
          <p:cNvSpPr txBox="1"/>
          <p:nvPr/>
        </p:nvSpPr>
        <p:spPr>
          <a:xfrm>
            <a:off x="8627805" y="3934032"/>
            <a:ext cx="30774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Drivers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Valence impact varies by cluster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most effective for high-energy songs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Energy-danceability balance crucial for popularity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combinations more predictive than  individual metrics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C30E76-7B9E-D4D4-627D-C78CFD32B7DB}"/>
              </a:ext>
            </a:extLst>
          </p:cNvPr>
          <p:cNvSpPr txBox="1"/>
          <p:nvPr/>
        </p:nvSpPr>
        <p:spPr>
          <a:xfrm>
            <a:off x="3438832" y="2446914"/>
            <a:ext cx="65310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Business Impact: </a:t>
            </a:r>
          </a:p>
          <a:p>
            <a:r>
              <a:rPr lang="en-US" dirty="0"/>
              <a:t>Enhanced prediction accuracy (83.78%) </a:t>
            </a:r>
          </a:p>
          <a:p>
            <a:r>
              <a:rPr lang="en-US" dirty="0"/>
              <a:t>Maximized profitability ($338,100 vs alternatives) </a:t>
            </a:r>
          </a:p>
          <a:p>
            <a:r>
              <a:rPr lang="en-US" dirty="0"/>
              <a:t>Improved user engagement through targeted recommendations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2155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B739-D83F-FB25-4E52-3D9552AA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3221" y="1100120"/>
            <a:ext cx="9601196" cy="915494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CONCLUSIONS &amp; 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2D26-F5EC-F1A3-7499-BC6D94B7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782" y="2399616"/>
            <a:ext cx="3099618" cy="2285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Implementation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KNN model for main recommendation engine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 playlists based on identified clusters 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 profit-based selection criteria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EEEEA-290D-A022-9625-0680CB6D642D}"/>
              </a:ext>
            </a:extLst>
          </p:cNvPr>
          <p:cNvSpPr txBox="1"/>
          <p:nvPr/>
        </p:nvSpPr>
        <p:spPr>
          <a:xfrm>
            <a:off x="4635909" y="2397948"/>
            <a:ext cx="317581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 Opportunities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Incorporate real-time user feedback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Expand feature analysis (lyrics, user context)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 cluster-specific recommendation strategies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AA075-3620-DB0A-54FF-B092544E59B8}"/>
              </a:ext>
            </a:extLst>
          </p:cNvPr>
          <p:cNvSpPr txBox="1"/>
          <p:nvPr/>
        </p:nvSpPr>
        <p:spPr>
          <a:xfrm>
            <a:off x="7848598" y="2397948"/>
            <a:ext cx="317581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Increased user engagement and retention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Optimized revenue through better hit prediction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More personalized user experience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743BD-BDBF-F3D3-C04A-419CD8AA6BD0}"/>
              </a:ext>
            </a:extLst>
          </p:cNvPr>
          <p:cNvSpPr txBox="1"/>
          <p:nvPr/>
        </p:nvSpPr>
        <p:spPr>
          <a:xfrm>
            <a:off x="983226" y="5069073"/>
            <a:ext cx="101567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Vision: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dynamic, self-improving system that balances user preferences, popularity prediction, and business metrics while maintaining recommendation quality and user satisfaction.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5361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BA65B-C4BB-7AF6-893F-52CD393BEB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88165" y="2107105"/>
            <a:ext cx="6815669" cy="151553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81936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2516</Words>
  <Application>Microsoft Office PowerPoint</Application>
  <PresentationFormat>Widescreen</PresentationFormat>
  <Paragraphs>326</Paragraphs>
  <Slides>38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Times New Roman</vt:lpstr>
      <vt:lpstr>Geo</vt:lpstr>
      <vt:lpstr>Garamond</vt:lpstr>
      <vt:lpstr>Arial</vt:lpstr>
      <vt:lpstr>Organic</vt:lpstr>
      <vt:lpstr>Predicting Song Popularity and Enhancing Spotify's Recommender Systems: A Business Data Analytics Approach</vt:lpstr>
      <vt:lpstr>PROJECT OVERVIEW</vt:lpstr>
      <vt:lpstr>PROJECT PHASES</vt:lpstr>
      <vt:lpstr>Phase 1: Predict Song Popularity (Q1) </vt:lpstr>
      <vt:lpstr>OBJECTIVES</vt:lpstr>
      <vt:lpstr>MODEL DEVELOPMENT AND EVALUATION </vt:lpstr>
      <vt:lpstr>LOGISTIC REGRESSION </vt:lpstr>
      <vt:lpstr>LOGISTIC REGRESSION: FEATURE CORRELATIONS</vt:lpstr>
      <vt:lpstr>PowerPoint Presentation</vt:lpstr>
      <vt:lpstr>DECISION TREE: INITIAL MODEL STRUCTURE</vt:lpstr>
      <vt:lpstr>PowerPoint Presentation</vt:lpstr>
      <vt:lpstr>DECISION TREE: MODEL EVALUATION</vt:lpstr>
      <vt:lpstr>DECISION TREE: HYPERPARAMETER OPTIMIZATION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COMPARISON</vt:lpstr>
      <vt:lpstr>PowerPoint Presentation</vt:lpstr>
      <vt:lpstr>CONCLUSION: OPTIMAL MODEL SELECTION: KNN FOR SPOTIFY</vt:lpstr>
      <vt:lpstr>Phase 2: Profit Maximization (Q2) </vt:lpstr>
      <vt:lpstr>Revenue and Cost Metrics in Model Evaluation</vt:lpstr>
      <vt:lpstr>Profit-Based Model Selection Results</vt:lpstr>
      <vt:lpstr>PowerPoint Presentation</vt:lpstr>
      <vt:lpstr>RECOMMENDATIONS FOR SPOTIFY</vt:lpstr>
      <vt:lpstr>Phase 3: Feature Insights and Clustering (Q3) </vt:lpstr>
      <vt:lpstr>METHOD 1: K-MEANS CLUSTERING ANALYSIS</vt:lpstr>
      <vt:lpstr>DBSCAN CLUSTERING RESULTS</vt:lpstr>
      <vt:lpstr>METHOD 3: AGGLOMERATIVE CLUSTERING</vt:lpstr>
      <vt:lpstr>K-MEANS CLUSTERING RESULTS: ENERGY &amp; DANCEABILITY PATTERNS</vt:lpstr>
      <vt:lpstr>VALANCE IMPACT ANALYSIS</vt:lpstr>
      <vt:lpstr>DISTRIBUTION ANALYSIS</vt:lpstr>
      <vt:lpstr>CLUSTER-BASED RECOMMENDATIONS</vt:lpstr>
      <vt:lpstr>ANALYSIS-BASED IMPLEMENTATION STRATEGY</vt:lpstr>
      <vt:lpstr>FINAL CONCLUSIONS &amp; FUTURE DIRECTIONS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Angelina Sajan</dc:creator>
  <cp:lastModifiedBy>Angelina Sajan</cp:lastModifiedBy>
  <cp:revision>10</cp:revision>
  <cp:lastPrinted>2024-12-08T02:39:37Z</cp:lastPrinted>
  <dcterms:modified xsi:type="dcterms:W3CDTF">2024-12-08T02:39:50Z</dcterms:modified>
</cp:coreProperties>
</file>